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wmf" ContentType="image/x-wmf"/>
  <Default Extension="png" ContentType="image/png"/>
  <Default Extension="rels" ContentType="application/vnd.openxmlformats-package.relationships+xml"/>
  <Default Extension="bin" ContentType="application/vnd.openxmlformats-officedocument.oleObject"/>
  <Override PartName="/ppt/notesSlides/notesSlide1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2.xml" ContentType="application/vnd.openxmlformats-officedocument.presentationml.slideLayout+xml"/>
  <Override PartName="/ppt/notesSlides/notesSlide7.xml" ContentType="application/vnd.openxmlformats-officedocument.presentationml.notesSlide+xml"/>
  <Override PartName="/ppt/slides/slide14.xml" ContentType="application/vnd.openxmlformats-officedocument.presentationml.slid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Masters/slideMaster1.xml" ContentType="application/vnd.openxmlformats-officedocument.presentationml.slideMaster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7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6858000" cy="12192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 /><Relationship Id="rId19" Type="http://schemas.openxmlformats.org/officeDocument/2006/relationships/tableStyles" Target="tableStyles.xml" /><Relationship Id="rId20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35121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58985741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92425083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10028977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415363040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1620593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94689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46218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530704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41287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965449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722017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18576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04865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195497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22048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344941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335812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56177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537518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40142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50685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709854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799203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19773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3950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S, T, R. QKD gives no non-repudiation.</a:t>
            </a:r>
            <a:endParaRPr lang="en-US"/>
          </a:p>
        </p:txBody>
      </p:sp>
      <p:sp>
        <p:nvSpPr>
          <p:cNvPr id="69012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13407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57115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I, D, E. Crypto can create new availability risks.</a:t>
            </a:r>
            <a:endParaRPr lang="en-US"/>
          </a:p>
        </p:txBody>
      </p:sp>
      <p:sp>
        <p:nvSpPr>
          <p:cNvPr id="5483884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8412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700818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746174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065936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67544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496445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80992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43578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608819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54979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550285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87373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87584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824568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Anomaly detection is a separate study.</a:t>
            </a:r>
            <a:endParaRPr lang="en-US"/>
          </a:p>
        </p:txBody>
      </p:sp>
      <p:sp>
        <p:nvSpPr>
          <p:cNvPr id="3827210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19656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948428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32028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itle and body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4920442" name="Title Placeholder 1"/>
          <p:cNvSpPr/>
          <p:nvPr>
            <p:ph type="title"/>
          </p:nvPr>
        </p:nvSpPr>
        <p:spPr bwMode="auto">
          <a:xfrm>
            <a:off x="812800" y="812800"/>
            <a:ext cx="10566400" cy="446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4999"/>
              </a:lnSpc>
              <a:buNone/>
              <a:defRPr lang="en-US" sz="3200">
                <a:solidFill>
                  <a:srgbClr val="1E3A8A"/>
                </a:solidFill>
                <a:latin typeface="Georgia"/>
                <a:ea typeface="Georgia"/>
                <a:cs typeface="Georgia"/>
              </a:defRPr>
            </a:lvl1pPr>
          </a:lstStyle>
          <a:p>
            <a:pPr marL="0" indent="0" algn="l">
              <a:lnSpc>
                <a:spcPct val="114999"/>
              </a:lnSpc>
              <a:buNone/>
              <a:defRPr/>
            </a:pPr>
            <a:endParaRPr lang="en-US" sz="3200"/>
          </a:p>
        </p:txBody>
      </p:sp>
      <p:sp>
        <p:nvSpPr>
          <p:cNvPr id="511316979" name="Text Placeholder 2"/>
          <p:cNvSpPr/>
          <p:nvPr>
            <p:ph type="body" idx="101"/>
          </p:nvPr>
        </p:nvSpPr>
        <p:spPr bwMode="auto">
          <a:xfrm>
            <a:off x="812800" y="1564580"/>
            <a:ext cx="10566400" cy="4480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>
                <a:solidFill>
                  <a:srgbClr val="1E3A8A"/>
                </a:solidFill>
                <a:latin typeface="Arial"/>
                <a:ea typeface="Arial"/>
                <a:cs typeface="Arial"/>
              </a:defRPr>
            </a:lvl1pPr>
          </a:lstStyle>
          <a:p>
            <a:pPr marL="0" indent="0" algn="l">
              <a:lnSpc>
                <a:spcPct val="140000"/>
              </a:lnSpc>
              <a:buNone/>
              <a:defRPr/>
            </a:pPr>
            <a:endParaRPr lang="en-US" sz="1600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7926389" name="Title Placeholder 1"/>
          <p:cNvSpPr/>
          <p:nvPr>
            <p:ph type="title"/>
          </p:nvPr>
        </p:nvSpPr>
        <p:spPr bwMode="auto">
          <a:xfrm>
            <a:off x="812800" y="812800"/>
            <a:ext cx="10566400" cy="446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4999"/>
              </a:lnSpc>
              <a:buNone/>
              <a:defRPr lang="en-US" sz="3200">
                <a:solidFill>
                  <a:srgbClr val="1E3A8A"/>
                </a:solidFill>
                <a:latin typeface="Georgia"/>
                <a:ea typeface="Georgia"/>
                <a:cs typeface="Georgia"/>
              </a:defRPr>
            </a:lvl1pPr>
          </a:lstStyle>
          <a:p>
            <a:pPr marL="0" indent="0" algn="l">
              <a:lnSpc>
                <a:spcPct val="114999"/>
              </a:lnSpc>
              <a:buNone/>
              <a:defRPr/>
            </a:pPr>
            <a:endParaRPr lang="en-US" sz="3200"/>
          </a:p>
        </p:txBody>
      </p:sp>
      <p:sp>
        <p:nvSpPr>
          <p:cNvPr id="970352548" name="Text Placeholder 2"/>
          <p:cNvSpPr/>
          <p:nvPr>
            <p:ph type="body" idx="101"/>
          </p:nvPr>
        </p:nvSpPr>
        <p:spPr bwMode="auto">
          <a:xfrm>
            <a:off x="812800" y="1564580"/>
            <a:ext cx="10566400" cy="4480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>
                <a:solidFill>
                  <a:srgbClr val="1E3A8A"/>
                </a:solidFill>
                <a:latin typeface="Arial"/>
                <a:ea typeface="Arial"/>
                <a:cs typeface="Arial"/>
              </a:defRPr>
            </a:lvl1pPr>
          </a:lstStyle>
          <a:p>
            <a:pPr marL="0" indent="0" algn="l">
              <a:lnSpc>
                <a:spcPct val="140000"/>
              </a:lnSpc>
              <a:buNone/>
              <a:defRPr/>
            </a:pPr>
            <a:endParaRPr lang="en-US" sz="16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0523389" name="Text 0"/>
          <p:cNvSpPr/>
          <p:nvPr/>
        </p:nvSpPr>
        <p:spPr bwMode="auto">
          <a:xfrm>
            <a:off x="812800" y="8128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spc="100">
                <a:solidFill>
                  <a:srgbClr val="1D4ED8"/>
                </a:solidFill>
                <a:latin typeface="Arial"/>
                <a:ea typeface="Arial"/>
                <a:cs typeface="Arial"/>
              </a:rPr>
              <a:t>M.Sc. THESIS PROPOSAL · REVISED APPROACH</a:t>
            </a:r>
            <a:endParaRPr lang="en-US" sz="1400"/>
          </a:p>
        </p:txBody>
      </p:sp>
      <p:sp>
        <p:nvSpPr>
          <p:cNvPr id="399754003" name="Text 1"/>
          <p:cNvSpPr/>
          <p:nvPr>
            <p:ph type="title"/>
          </p:nvPr>
        </p:nvSpPr>
        <p:spPr bwMode="auto">
          <a:xfrm>
            <a:off x="812800" y="1315641"/>
            <a:ext cx="10883392" cy="13104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5060"/>
              </a:lnSpc>
              <a:buNone/>
              <a:defRPr/>
            </a:pPr>
            <a:r>
              <a:rPr lang="en-US" sz="3600" b="1" i="0">
                <a:solidFill>
                  <a:srgbClr val="1E3A8A"/>
                </a:solidFill>
                <a:latin typeface="Georgia"/>
                <a:ea typeface="Georgia"/>
                <a:cs typeface="Georgia"/>
              </a:rPr>
              <a:t>Zone-wise PQC and QKD </a:t>
            </a:r>
            <a:br>
              <a:rPr lang="en-US" sz="3600" b="1" i="0">
                <a:solidFill>
                  <a:srgbClr val="1E3A8A"/>
                </a:solidFill>
                <a:latin typeface="Georgia"/>
                <a:ea typeface="Georgia"/>
                <a:cs typeface="Georgia"/>
              </a:rPr>
            </a:br>
            <a:r>
              <a:rPr lang="en-US" sz="3600" b="1" i="0">
                <a:solidFill>
                  <a:srgbClr val="1E3A8A"/>
                </a:solidFill>
                <a:latin typeface="Georgia"/>
                <a:ea typeface="Georgia"/>
                <a:cs typeface="Georgia"/>
              </a:rPr>
              <a:t>for SMR control systems</a:t>
            </a:r>
            <a:endParaRPr lang="en-US" sz="4600"/>
          </a:p>
        </p:txBody>
      </p:sp>
      <p:sp>
        <p:nvSpPr>
          <p:cNvPr id="663887776" name="Text 2"/>
          <p:cNvSpPr/>
          <p:nvPr/>
        </p:nvSpPr>
        <p:spPr bwMode="auto">
          <a:xfrm>
            <a:off x="812799" y="3337873"/>
            <a:ext cx="10883392" cy="327620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5000" lnSpcReduction="1000"/>
          </a:bodyPr>
          <a:lstStyle/>
          <a:p>
            <a:pPr marL="0" indent="0" algn="ctr">
              <a:lnSpc>
                <a:spcPts val="2380"/>
              </a:lnSpc>
              <a:buNone/>
              <a:defRPr/>
            </a:pPr>
            <a:r>
              <a:rPr lang="en-US" sz="2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Where does post-quantum cryptography suffice, and where does QKD add measurable value?</a:t>
            </a:r>
            <a:endParaRPr sz="2000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0966404" name="Text 0"/>
          <p:cNvSpPr/>
          <p:nvPr>
            <p:ph type="title"/>
          </p:nvPr>
        </p:nvSpPr>
        <p:spPr bwMode="auto"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  <a:defRPr/>
            </a:pPr>
            <a:r>
              <a:rPr lang="en-US" sz="3200" b="0" i="0">
                <a:solidFill>
                  <a:srgbClr val="1E3A8A"/>
                </a:solidFill>
                <a:latin typeface="Georgia"/>
                <a:ea typeface="Georgia"/>
                <a:cs typeface="Georgia"/>
              </a:rPr>
              <a:t>Why the approach changed</a:t>
            </a:r>
            <a:endParaRPr lang="en-US" sz="3200"/>
          </a:p>
        </p:txBody>
      </p:sp>
      <p:sp>
        <p:nvSpPr>
          <p:cNvPr id="351666124" name="Shape 1"/>
          <p:cNvSpPr/>
          <p:nvPr/>
        </p:nvSpPr>
        <p:spPr bwMode="auto">
          <a:xfrm>
            <a:off x="822324" y="2006457"/>
            <a:ext cx="3384550" cy="1636812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800"/>
          </a:p>
        </p:txBody>
      </p:sp>
      <p:sp>
        <p:nvSpPr>
          <p:cNvPr id="365577883" name="Text 2"/>
          <p:cNvSpPr/>
          <p:nvPr/>
        </p:nvSpPr>
        <p:spPr bwMode="auto">
          <a:xfrm>
            <a:off x="1035049" y="2219181"/>
            <a:ext cx="3047873" cy="269180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5000" lnSpcReduction="1000"/>
          </a:bodyPr>
          <a:lstStyle/>
          <a:p>
            <a:pPr marL="0" indent="0" algn="l">
              <a:lnSpc>
                <a:spcPts val="1920"/>
              </a:lnSpc>
              <a:buNone/>
              <a:defRPr/>
            </a:pPr>
            <a:r>
              <a:rPr lang="en-US" sz="260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Wrong threat model</a:t>
            </a:r>
            <a:endParaRPr lang="en-US" sz="2600"/>
          </a:p>
        </p:txBody>
      </p:sp>
      <p:sp>
        <p:nvSpPr>
          <p:cNvPr id="574239859" name="Text 3"/>
          <p:cNvSpPr/>
          <p:nvPr/>
        </p:nvSpPr>
        <p:spPr bwMode="auto">
          <a:xfrm>
            <a:off x="1035049" y="2539163"/>
            <a:ext cx="3047873" cy="916781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/>
          <a:p>
            <a:pPr marL="0" indent="0" algn="l">
              <a:lnSpc>
                <a:spcPts val="1755"/>
              </a:lnSpc>
              <a:buNone/>
              <a:defRPr/>
            </a:pPr>
            <a:r>
              <a:rPr lang="en-US" sz="1600">
                <a:solidFill>
                  <a:srgbClr val="111111"/>
                </a:solidFill>
                <a:latin typeface="Arial"/>
                <a:ea typeface="Arial"/>
                <a:cs typeface="Arial"/>
              </a:rPr>
              <a:t>Nuclear I&amp;C ranks availability and integrity above confidentiality. The urgent quantum risk is firmware roots of trust and long-retention data.</a:t>
            </a:r>
            <a:endParaRPr lang="en-US" sz="2200"/>
          </a:p>
        </p:txBody>
      </p:sp>
      <p:sp>
        <p:nvSpPr>
          <p:cNvPr id="361729049" name="Shape 4"/>
          <p:cNvSpPr/>
          <p:nvPr/>
        </p:nvSpPr>
        <p:spPr bwMode="auto">
          <a:xfrm>
            <a:off x="4403724" y="2006457"/>
            <a:ext cx="3384550" cy="1636812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800"/>
          </a:p>
        </p:txBody>
      </p:sp>
      <p:sp>
        <p:nvSpPr>
          <p:cNvPr id="609146257" name="Text 5"/>
          <p:cNvSpPr/>
          <p:nvPr/>
        </p:nvSpPr>
        <p:spPr bwMode="auto">
          <a:xfrm>
            <a:off x="4616449" y="2219181"/>
            <a:ext cx="3047873" cy="269180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/>
          <a:p>
            <a:pPr marL="0" indent="0" algn="l">
              <a:lnSpc>
                <a:spcPts val="1920"/>
              </a:lnSpc>
              <a:buNone/>
              <a:defRPr/>
            </a:pPr>
            <a:r>
              <a:rPr lang="en-US" sz="200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Attacks crypto cannot stop</a:t>
            </a:r>
            <a:endParaRPr lang="en-US" sz="2600"/>
          </a:p>
        </p:txBody>
      </p:sp>
      <p:sp>
        <p:nvSpPr>
          <p:cNvPr id="648122459" name="Text 6"/>
          <p:cNvSpPr/>
          <p:nvPr/>
        </p:nvSpPr>
        <p:spPr bwMode="auto">
          <a:xfrm>
            <a:off x="4616449" y="2539163"/>
            <a:ext cx="3047873" cy="693936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5000" lnSpcReduction="1000"/>
          </a:bodyPr>
          <a:lstStyle/>
          <a:p>
            <a:pPr marL="0" indent="0" algn="l">
              <a:lnSpc>
                <a:spcPts val="1755"/>
              </a:lnSpc>
              <a:buNone/>
              <a:defRPr/>
            </a:pPr>
            <a:r>
              <a:rPr lang="en-US" sz="1400">
                <a:solidFill>
                  <a:srgbClr val="111111"/>
                </a:solidFill>
                <a:latin typeface="Arial"/>
                <a:ea typeface="Arial"/>
                <a:cs typeface="Arial"/>
              </a:rPr>
              <a:t>Process-level attacks and Stuxnet-type malware bypass link encryption, so they cannot judge a cryptographic choice.</a:t>
            </a:r>
            <a:endParaRPr lang="en-US" sz="2200"/>
          </a:p>
        </p:txBody>
      </p:sp>
      <p:sp>
        <p:nvSpPr>
          <p:cNvPr id="298571255" name="Shape 7"/>
          <p:cNvSpPr/>
          <p:nvPr/>
        </p:nvSpPr>
        <p:spPr bwMode="auto">
          <a:xfrm>
            <a:off x="7985124" y="2006457"/>
            <a:ext cx="3384550" cy="1636812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800"/>
          </a:p>
        </p:txBody>
      </p:sp>
      <p:sp>
        <p:nvSpPr>
          <p:cNvPr id="75052782" name="Text 8"/>
          <p:cNvSpPr/>
          <p:nvPr/>
        </p:nvSpPr>
        <p:spPr bwMode="auto">
          <a:xfrm>
            <a:off x="8197849" y="2219181"/>
            <a:ext cx="304787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  <a:defRPr/>
            </a:pPr>
            <a:r>
              <a:rPr lang="en-US" sz="260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Weak comparison</a:t>
            </a:r>
            <a:endParaRPr lang="en-US" sz="2600"/>
          </a:p>
        </p:txBody>
      </p:sp>
      <p:sp>
        <p:nvSpPr>
          <p:cNvPr id="2120169202" name="Text 9"/>
          <p:cNvSpPr/>
          <p:nvPr/>
        </p:nvSpPr>
        <p:spPr bwMode="auto">
          <a:xfrm>
            <a:off x="8197849" y="2539163"/>
            <a:ext cx="3047873" cy="693936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80000" lnSpcReduction="4000"/>
          </a:bodyPr>
          <a:lstStyle/>
          <a:p>
            <a:pPr marL="0" indent="0" algn="l">
              <a:lnSpc>
                <a:spcPts val="1755"/>
              </a:lnSpc>
              <a:buNone/>
              <a:defRPr/>
            </a:pPr>
            <a:r>
              <a:rPr lang="en-US" sz="2200">
                <a:solidFill>
                  <a:srgbClr val="111111"/>
                </a:solidFill>
                <a:latin typeface="Arial"/>
                <a:ea typeface="Arial"/>
                <a:cs typeface="Arial"/>
              </a:rPr>
              <a:t>RSA/AES baseline, QKD-only without authentication, and an index with arbitrary weights.</a:t>
            </a:r>
            <a:endParaRPr lang="en-US" sz="2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1123204" name="Text 0"/>
          <p:cNvSpPr/>
          <p:nvPr>
            <p:ph type="title"/>
          </p:nvPr>
        </p:nvSpPr>
        <p:spPr bwMode="auto">
          <a:xfrm>
            <a:off x="743778" y="495299"/>
            <a:ext cx="10883392" cy="4616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465"/>
              </a:lnSpc>
              <a:buNone/>
              <a:defRPr/>
            </a:pPr>
            <a:r>
              <a:rPr lang="en-US" sz="3150" b="0" i="0">
                <a:solidFill>
                  <a:srgbClr val="1E3A8A"/>
                </a:solidFill>
                <a:latin typeface="Georgia"/>
                <a:ea typeface="Georgia"/>
                <a:cs typeface="Georgia"/>
              </a:rPr>
              <a:t>High-level architecture</a:t>
            </a:r>
            <a:endParaRPr lang="en-US" sz="3150"/>
          </a:p>
        </p:txBody>
      </p:sp>
      <p:pic>
        <p:nvPicPr>
          <p:cNvPr id="1983293735" name="Image 0" descr="High-level architecture: five zones with QKD key supply on the left, PQC and classical subsystem on the right, and zone key management below"/>
          <p:cNvPicPr>
            <a:picLocks noChangeAspect="1"/>
          </p:cNvPicPr>
          <p:nvPr/>
        </p:nvPicPr>
        <p:blipFill rotWithShape="1">
          <a:blip r:embed="rId3"/>
          <a:srcRect l="-1250" t="0" r="-1250" b="0"/>
          <a:stretch/>
        </p:blipFill>
        <p:spPr bwMode="auto">
          <a:xfrm flipH="0" flipV="0">
            <a:off x="73224" y="1049130"/>
            <a:ext cx="12106061" cy="54251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3629541" name="Text 0"/>
          <p:cNvSpPr/>
          <p:nvPr>
            <p:ph type="title"/>
          </p:nvPr>
        </p:nvSpPr>
        <p:spPr bwMode="auto"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  <a:defRPr/>
            </a:pPr>
            <a:r>
              <a:rPr lang="en-US" sz="3200" b="1" i="0">
                <a:solidFill>
                  <a:srgbClr val="1E3A8A"/>
                </a:solidFill>
                <a:latin typeface="Georgia"/>
                <a:ea typeface="Georgia"/>
                <a:cs typeface="Georgia"/>
              </a:rPr>
              <a:t>The five zones</a:t>
            </a:r>
            <a:endParaRPr sz="3200" b="1"/>
          </a:p>
        </p:txBody>
      </p:sp>
      <p:graphicFrame>
        <p:nvGraphicFramePr>
          <p:cNvPr id="2054151136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825500" y="1526480"/>
          <a:ext cx="10553700" cy="3773288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638425"/>
                <a:gridCol w="2638425"/>
                <a:gridCol w="2638425"/>
                <a:gridCol w="2638425"/>
              </a:tblGrid>
              <a:tr h="439241"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800" b="1">
                          <a:solidFill>
                            <a:srgbClr val="1E3A8A"/>
                          </a:solidFill>
                          <a:latin typeface="Arial"/>
                          <a:ea typeface="Arial"/>
                          <a:cs typeface="Arial"/>
                        </a:rPr>
                        <a:t>Zone</a:t>
                      </a:r>
                      <a:endParaRPr lang="en-US"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BCBCBC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BCBCBC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800" b="1">
                          <a:solidFill>
                            <a:srgbClr val="1E3A8A"/>
                          </a:solidFill>
                          <a:latin typeface="Arial"/>
                          <a:ea typeface="Arial"/>
                          <a:cs typeface="Arial"/>
                        </a:rPr>
                        <a:t>Typical assets</a:t>
                      </a:r>
                      <a:endParaRPr lang="en-US"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BCBCBC"/>
                      </a:solidFill>
                    </a:lnL>
                    <a:lnR w="12700" algn="ctr">
                      <a:solidFill>
                        <a:srgbClr val="BCBCBC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BCBCBC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800" b="1">
                          <a:solidFill>
                            <a:srgbClr val="1E3A8A"/>
                          </a:solidFill>
                          <a:latin typeface="Arial"/>
                          <a:ea typeface="Arial"/>
                          <a:cs typeface="Arial"/>
                        </a:rPr>
                        <a:t>Trust and data flow</a:t>
                      </a:r>
                      <a:endParaRPr lang="en-US"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BCBCBC"/>
                      </a:solidFill>
                    </a:lnL>
                    <a:lnR w="12700" algn="ctr">
                      <a:solidFill>
                        <a:srgbClr val="BCBCBC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BCBCBC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800" b="1">
                          <a:solidFill>
                            <a:srgbClr val="1E3A8A"/>
                          </a:solidFill>
                          <a:latin typeface="Arial"/>
                          <a:ea typeface="Arial"/>
                          <a:cs typeface="Arial"/>
                        </a:rPr>
                        <a:t>Crypto role</a:t>
                      </a:r>
                      <a:endParaRPr lang="en-US"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BCBCBC"/>
                      </a:solidFill>
                    </a:lnL>
                    <a:lnR w="12700" algn="ctr">
                      <a:solidFill>
                        <a:srgbClr val="BCBCBC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BCBCBC"/>
                      </a:solidFill>
                    </a:lnB>
                    <a:solidFill>
                      <a:srgbClr val="ECECEC"/>
                    </a:solidFill>
                  </a:tcPr>
                </a:tc>
              </a:tr>
              <a:tr h="723702"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2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Z1 Safety</a:t>
                      </a:r>
                      <a:endParaRPr sz="18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BCBCBC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Reactor protection, safety I&amp;C</a:t>
                      </a:r>
                      <a:endParaRPr lang="en-US"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BCBCBC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Most trusted; one-way outbound</a:t>
                      </a:r>
                      <a:endParaRPr lang="en-US"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BCBCBC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Signed firmware; pre-shared keys</a:t>
                      </a:r>
                      <a:endParaRPr lang="en-US"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BCBCBC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</a:tr>
              <a:tr h="439241"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2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Z2 Control</a:t>
                      </a:r>
                      <a:endParaRPr sz="18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DCS, PLCs, field switches</a:t>
                      </a:r>
                      <a:endParaRPr lang="en-US"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Controlled flow from Z1</a:t>
                      </a:r>
                      <a:endParaRPr lang="en-US"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MACsec at boundaries</a:t>
                      </a:r>
                      <a:endParaRPr lang="en-US"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</a:tr>
              <a:tr h="723702"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2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Z3 Supervisory</a:t>
                      </a:r>
                      <a:endParaRPr sz="18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SCADA, HMI, historian</a:t>
                      </a:r>
                      <a:endParaRPr lang="en-US"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Operators and engineers</a:t>
                      </a:r>
                      <a:endParaRPr lang="en-US"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Hybrid key exchange; signed commands</a:t>
                      </a:r>
                      <a:endParaRPr lang="en-US"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</a:tr>
              <a:tr h="723702"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2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Z4 DMZ / remote</a:t>
                      </a:r>
                      <a:endParaRPr sz="18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Jump hosts, vendor access</a:t>
                      </a:r>
                      <a:endParaRPr lang="en-US"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Brokered, untrusted callers</a:t>
                      </a:r>
                      <a:endParaRPr lang="en-US"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Hybrid KEM; ML-DSA PKI</a:t>
                      </a:r>
                      <a:endParaRPr lang="en-US"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</a:tr>
              <a:tr h="723702"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2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Z5 Enterprise</a:t>
                      </a:r>
                      <a:endParaRPr sz="18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Business IT, regulator links</a:t>
                      </a:r>
                      <a:endParaRPr lang="en-US"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Least trusted</a:t>
                      </a:r>
                      <a:endParaRPr lang="en-US"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2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Hybrid TLS; optional QKD link</a:t>
                      </a:r>
                      <a:endParaRPr lang="en-US"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412424" name="Text 0"/>
          <p:cNvSpPr/>
          <p:nvPr>
            <p:ph type="title"/>
          </p:nvPr>
        </p:nvSpPr>
        <p:spPr bwMode="auto"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  <a:defRPr/>
            </a:pPr>
            <a:r>
              <a:rPr lang="en-US" sz="3200" b="1" i="0">
                <a:solidFill>
                  <a:srgbClr val="1E3A8A"/>
                </a:solidFill>
                <a:latin typeface="Georgia"/>
                <a:ea typeface="Georgia"/>
                <a:cs typeface="Georgia"/>
              </a:rPr>
              <a:t>Threat surfaces of a nuclear ICS</a:t>
            </a:r>
            <a:endParaRPr sz="3200" b="1"/>
          </a:p>
        </p:txBody>
      </p:sp>
      <p:sp>
        <p:nvSpPr>
          <p:cNvPr id="1995955181" name="Shape 1"/>
          <p:cNvSpPr/>
          <p:nvPr/>
        </p:nvSpPr>
        <p:spPr bwMode="auto">
          <a:xfrm>
            <a:off x="822324" y="1937435"/>
            <a:ext cx="3384550" cy="1413966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600"/>
          </a:p>
        </p:txBody>
      </p:sp>
      <p:sp>
        <p:nvSpPr>
          <p:cNvPr id="675662921" name="Text 2"/>
          <p:cNvSpPr/>
          <p:nvPr/>
        </p:nvSpPr>
        <p:spPr bwMode="auto">
          <a:xfrm>
            <a:off x="1035049" y="2150160"/>
            <a:ext cx="304787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  <a:defRPr/>
            </a:pPr>
            <a:r>
              <a:rPr lang="en-US" sz="240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Remote access</a:t>
            </a:r>
            <a:endParaRPr lang="en-US" sz="2400"/>
          </a:p>
        </p:txBody>
      </p:sp>
      <p:sp>
        <p:nvSpPr>
          <p:cNvPr id="1510234562" name="Text 3"/>
          <p:cNvSpPr/>
          <p:nvPr/>
        </p:nvSpPr>
        <p:spPr bwMode="auto">
          <a:xfrm>
            <a:off x="1035049" y="2470141"/>
            <a:ext cx="3047873" cy="471091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5000" lnSpcReduction="1000"/>
          </a:bodyPr>
          <a:lstStyle/>
          <a:p>
            <a:pPr marL="0" indent="0" algn="l">
              <a:lnSpc>
                <a:spcPts val="1755"/>
              </a:lnSpc>
              <a:buNone/>
              <a:defRPr/>
            </a:pPr>
            <a:r>
              <a:rPr lang="en-US" sz="1400">
                <a:solidFill>
                  <a:srgbClr val="111111"/>
                </a:solidFill>
                <a:latin typeface="Arial"/>
                <a:ea typeface="Arial"/>
                <a:cs typeface="Arial"/>
              </a:rPr>
              <a:t>Vendor support, remote monitoring and operations links crossing the DMZ.</a:t>
            </a:r>
            <a:endParaRPr lang="en-US" sz="2000"/>
          </a:p>
        </p:txBody>
      </p:sp>
      <p:sp>
        <p:nvSpPr>
          <p:cNvPr id="1596668625" name="Shape 4"/>
          <p:cNvSpPr/>
          <p:nvPr/>
        </p:nvSpPr>
        <p:spPr bwMode="auto">
          <a:xfrm>
            <a:off x="4403724" y="1937435"/>
            <a:ext cx="3384550" cy="1413966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600"/>
          </a:p>
        </p:txBody>
      </p:sp>
      <p:sp>
        <p:nvSpPr>
          <p:cNvPr id="274299858" name="Text 5"/>
          <p:cNvSpPr/>
          <p:nvPr/>
        </p:nvSpPr>
        <p:spPr bwMode="auto">
          <a:xfrm>
            <a:off x="4616449" y="2150160"/>
            <a:ext cx="304787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  <a:defRPr/>
            </a:pPr>
            <a:r>
              <a:rPr lang="en-US" sz="240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IT/OT boundary</a:t>
            </a:r>
            <a:endParaRPr lang="en-US" sz="2400"/>
          </a:p>
        </p:txBody>
      </p:sp>
      <p:sp>
        <p:nvSpPr>
          <p:cNvPr id="386180363" name="Text 6"/>
          <p:cNvSpPr/>
          <p:nvPr/>
        </p:nvSpPr>
        <p:spPr bwMode="auto">
          <a:xfrm>
            <a:off x="4616449" y="2470141"/>
            <a:ext cx="3047873" cy="471091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85000" lnSpcReduction="3000"/>
          </a:bodyPr>
          <a:lstStyle/>
          <a:p>
            <a:pPr marL="0" indent="0" algn="l">
              <a:lnSpc>
                <a:spcPts val="1755"/>
              </a:lnSpc>
              <a:buNone/>
              <a:defRPr/>
            </a:pPr>
            <a:r>
              <a:rPr lang="en-US" sz="1800">
                <a:solidFill>
                  <a:srgbClr val="111111"/>
                </a:solidFill>
                <a:latin typeface="Arial"/>
                <a:ea typeface="Arial"/>
                <a:cs typeface="Arial"/>
              </a:rPr>
              <a:t>Historians, enterprise networks and data gateways between zones.</a:t>
            </a:r>
            <a:endParaRPr lang="en-US" sz="2000"/>
          </a:p>
        </p:txBody>
      </p:sp>
      <p:sp>
        <p:nvSpPr>
          <p:cNvPr id="470845195" name="Shape 7"/>
          <p:cNvSpPr/>
          <p:nvPr/>
        </p:nvSpPr>
        <p:spPr bwMode="auto">
          <a:xfrm>
            <a:off x="7985124" y="1937435"/>
            <a:ext cx="3384550" cy="1413966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600"/>
          </a:p>
        </p:txBody>
      </p:sp>
      <p:sp>
        <p:nvSpPr>
          <p:cNvPr id="670893672" name="Text 8"/>
          <p:cNvSpPr/>
          <p:nvPr/>
        </p:nvSpPr>
        <p:spPr bwMode="auto">
          <a:xfrm>
            <a:off x="8197849" y="2150160"/>
            <a:ext cx="3047873" cy="269180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/>
          <a:p>
            <a:pPr marL="0" indent="0" algn="l">
              <a:lnSpc>
                <a:spcPts val="1920"/>
              </a:lnSpc>
              <a:buNone/>
              <a:defRPr/>
            </a:pPr>
            <a:r>
              <a:rPr lang="en-US" sz="240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Engineering endpoints</a:t>
            </a:r>
            <a:endParaRPr lang="en-US" sz="2400"/>
          </a:p>
        </p:txBody>
      </p:sp>
      <p:sp>
        <p:nvSpPr>
          <p:cNvPr id="1188304322" name="Text 9"/>
          <p:cNvSpPr/>
          <p:nvPr/>
        </p:nvSpPr>
        <p:spPr bwMode="auto">
          <a:xfrm>
            <a:off x="8197849" y="2470141"/>
            <a:ext cx="3047873" cy="693936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/>
          <a:p>
            <a:pPr marL="0" indent="0" algn="l">
              <a:lnSpc>
                <a:spcPts val="1755"/>
              </a:lnSpc>
              <a:buNone/>
              <a:defRPr/>
            </a:pPr>
            <a:r>
              <a:rPr lang="en-US" sz="1800">
                <a:solidFill>
                  <a:srgbClr val="111111"/>
                </a:solidFill>
                <a:latin typeface="Arial"/>
                <a:ea typeface="Arial"/>
                <a:cs typeface="Arial"/>
              </a:rPr>
              <a:t>Maintenance laptops, USB media and engineering workstations that reach controllers.</a:t>
            </a:r>
            <a:endParaRPr lang="en-US" sz="2000"/>
          </a:p>
        </p:txBody>
      </p:sp>
      <p:sp>
        <p:nvSpPr>
          <p:cNvPr id="1059606331" name="Shape 10"/>
          <p:cNvSpPr/>
          <p:nvPr/>
        </p:nvSpPr>
        <p:spPr bwMode="auto">
          <a:xfrm>
            <a:off x="822324" y="3624452"/>
            <a:ext cx="3384550" cy="1413966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600"/>
          </a:p>
        </p:txBody>
      </p:sp>
      <p:sp>
        <p:nvSpPr>
          <p:cNvPr id="1607902384" name="Text 11"/>
          <p:cNvSpPr/>
          <p:nvPr/>
        </p:nvSpPr>
        <p:spPr bwMode="auto">
          <a:xfrm>
            <a:off x="1035049" y="3837177"/>
            <a:ext cx="3047873" cy="269180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/>
          <a:p>
            <a:pPr marL="0" indent="0" algn="l">
              <a:lnSpc>
                <a:spcPts val="1920"/>
              </a:lnSpc>
              <a:buNone/>
              <a:defRPr/>
            </a:pPr>
            <a:r>
              <a:rPr lang="en-US" sz="200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Supply chain and firmware</a:t>
            </a:r>
            <a:endParaRPr lang="en-US" sz="2400"/>
          </a:p>
        </p:txBody>
      </p:sp>
      <p:sp>
        <p:nvSpPr>
          <p:cNvPr id="734167168" name="Text 12"/>
          <p:cNvSpPr/>
          <p:nvPr/>
        </p:nvSpPr>
        <p:spPr bwMode="auto">
          <a:xfrm>
            <a:off x="1035049" y="4157157"/>
            <a:ext cx="3047873" cy="471091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85000" lnSpcReduction="3000"/>
          </a:bodyPr>
          <a:lstStyle/>
          <a:p>
            <a:pPr marL="0" indent="0" algn="l">
              <a:lnSpc>
                <a:spcPts val="1755"/>
              </a:lnSpc>
              <a:buNone/>
              <a:defRPr/>
            </a:pPr>
            <a:r>
              <a:rPr lang="en-US" sz="1800">
                <a:solidFill>
                  <a:srgbClr val="111111"/>
                </a:solidFill>
                <a:latin typeface="Arial"/>
                <a:ea typeface="Arial"/>
                <a:cs typeface="Arial"/>
              </a:rPr>
              <a:t>Digital I&amp;C, FPGA logic and updates with 40–60-year lifetimes.</a:t>
            </a:r>
            <a:endParaRPr lang="en-US" sz="2000"/>
          </a:p>
        </p:txBody>
      </p:sp>
      <p:sp>
        <p:nvSpPr>
          <p:cNvPr id="128343461" name="Shape 13"/>
          <p:cNvSpPr/>
          <p:nvPr/>
        </p:nvSpPr>
        <p:spPr bwMode="auto">
          <a:xfrm>
            <a:off x="4403724" y="3624452"/>
            <a:ext cx="3384550" cy="1413966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600"/>
          </a:p>
        </p:txBody>
      </p:sp>
      <p:sp>
        <p:nvSpPr>
          <p:cNvPr id="1362094883" name="Text 14"/>
          <p:cNvSpPr/>
          <p:nvPr/>
        </p:nvSpPr>
        <p:spPr bwMode="auto">
          <a:xfrm>
            <a:off x="4616449" y="3837177"/>
            <a:ext cx="3047873" cy="269180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85000" lnSpcReduction="3000"/>
          </a:bodyPr>
          <a:lstStyle/>
          <a:p>
            <a:pPr marL="0" indent="0" algn="l">
              <a:lnSpc>
                <a:spcPts val="1920"/>
              </a:lnSpc>
              <a:buNone/>
              <a:defRPr/>
            </a:pPr>
            <a:r>
              <a:rPr lang="en-US" sz="240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Field and network layer</a:t>
            </a:r>
            <a:endParaRPr lang="en-US" sz="2400"/>
          </a:p>
        </p:txBody>
      </p:sp>
      <p:sp>
        <p:nvSpPr>
          <p:cNvPr id="716002145" name="Text 15"/>
          <p:cNvSpPr/>
          <p:nvPr/>
        </p:nvSpPr>
        <p:spPr bwMode="auto">
          <a:xfrm>
            <a:off x="4616449" y="4157157"/>
            <a:ext cx="3047873" cy="693936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75000" lnSpcReduction="5000"/>
          </a:bodyPr>
          <a:lstStyle/>
          <a:p>
            <a:pPr marL="0" indent="0" algn="l">
              <a:lnSpc>
                <a:spcPts val="1755"/>
              </a:lnSpc>
              <a:buNone/>
              <a:defRPr/>
            </a:pPr>
            <a:r>
              <a:rPr lang="en-US" sz="2400">
                <a:solidFill>
                  <a:srgbClr val="111111"/>
                </a:solidFill>
                <a:latin typeface="Arial"/>
                <a:ea typeface="Arial"/>
                <a:cs typeface="Arial"/>
              </a:rPr>
              <a:t>Switches, fibre taps, wireless links and unauthenticated protocols such as Modbus.</a:t>
            </a:r>
            <a:endParaRPr lang="en-US" sz="2000"/>
          </a:p>
        </p:txBody>
      </p:sp>
      <p:sp>
        <p:nvSpPr>
          <p:cNvPr id="1919739549" name="Shape 16"/>
          <p:cNvSpPr/>
          <p:nvPr/>
        </p:nvSpPr>
        <p:spPr bwMode="auto">
          <a:xfrm>
            <a:off x="7985124" y="3624452"/>
            <a:ext cx="3384550" cy="1413966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600"/>
          </a:p>
        </p:txBody>
      </p:sp>
      <p:sp>
        <p:nvSpPr>
          <p:cNvPr id="337925391" name="Text 17"/>
          <p:cNvSpPr/>
          <p:nvPr/>
        </p:nvSpPr>
        <p:spPr bwMode="auto">
          <a:xfrm>
            <a:off x="8197849" y="3837177"/>
            <a:ext cx="304787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  <a:defRPr/>
            </a:pPr>
            <a:r>
              <a:rPr lang="en-US" sz="240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Data and insiders</a:t>
            </a:r>
            <a:endParaRPr lang="en-US" sz="2400"/>
          </a:p>
        </p:txBody>
      </p:sp>
      <p:sp>
        <p:nvSpPr>
          <p:cNvPr id="2093104095" name="Text 18"/>
          <p:cNvSpPr/>
          <p:nvPr/>
        </p:nvSpPr>
        <p:spPr bwMode="auto">
          <a:xfrm>
            <a:off x="8197849" y="4157157"/>
            <a:ext cx="3047873" cy="693936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/>
          <a:p>
            <a:pPr marL="0" indent="0" algn="l">
              <a:lnSpc>
                <a:spcPts val="1755"/>
              </a:lnSpc>
              <a:buNone/>
              <a:defRPr/>
            </a:pPr>
            <a:r>
              <a:rPr lang="en-US" sz="1800">
                <a:solidFill>
                  <a:srgbClr val="111111"/>
                </a:solidFill>
                <a:latin typeface="Arial"/>
                <a:ea typeface="Arial"/>
                <a:cs typeface="Arial"/>
              </a:rPr>
              <a:t>Design, safeguards and physical-protection data; privileged staff and physical access.</a:t>
            </a:r>
            <a:endParaRPr lang="en-US"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8235431" name="Text 0"/>
          <p:cNvSpPr/>
          <p:nvPr>
            <p:ph type="title"/>
          </p:nvPr>
        </p:nvSpPr>
        <p:spPr bwMode="auto"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  <a:defRPr/>
            </a:pPr>
            <a:r>
              <a:rPr lang="en-US" sz="3200" b="1" i="0">
                <a:solidFill>
                  <a:srgbClr val="1E3A8A"/>
                </a:solidFill>
                <a:latin typeface="Georgia"/>
                <a:ea typeface="Georgia"/>
                <a:cs typeface="Georgia"/>
              </a:rPr>
              <a:t>What PQC and QKD can and cannot reach</a:t>
            </a:r>
            <a:endParaRPr sz="3200" b="1"/>
          </a:p>
        </p:txBody>
      </p:sp>
      <p:sp>
        <p:nvSpPr>
          <p:cNvPr id="21230370" name="Shape 1"/>
          <p:cNvSpPr/>
          <p:nvPr/>
        </p:nvSpPr>
        <p:spPr bwMode="auto">
          <a:xfrm>
            <a:off x="822324" y="2144500"/>
            <a:ext cx="3384550" cy="1636812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600"/>
          </a:p>
        </p:txBody>
      </p:sp>
      <p:sp>
        <p:nvSpPr>
          <p:cNvPr id="30924690" name="Text 2"/>
          <p:cNvSpPr/>
          <p:nvPr/>
        </p:nvSpPr>
        <p:spPr bwMode="auto">
          <a:xfrm>
            <a:off x="1035049" y="2357225"/>
            <a:ext cx="304787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  <a:defRPr/>
            </a:pPr>
            <a:r>
              <a:rPr lang="en-US" sz="280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PQC helps with</a:t>
            </a:r>
            <a:endParaRPr lang="en-US" sz="2400"/>
          </a:p>
        </p:txBody>
      </p:sp>
      <p:sp>
        <p:nvSpPr>
          <p:cNvPr id="1826971838" name="Text 3"/>
          <p:cNvSpPr/>
          <p:nvPr/>
        </p:nvSpPr>
        <p:spPr bwMode="auto">
          <a:xfrm>
            <a:off x="1035049" y="2677206"/>
            <a:ext cx="3047873" cy="916781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5000" lnSpcReduction="1000"/>
          </a:bodyPr>
          <a:lstStyle/>
          <a:p>
            <a:pPr marL="0" indent="0" algn="l">
              <a:lnSpc>
                <a:spcPts val="1755"/>
              </a:lnSpc>
              <a:buNone/>
              <a:defRPr/>
            </a:pPr>
            <a:r>
              <a:rPr lang="en-US" sz="1400">
                <a:solidFill>
                  <a:srgbClr val="111111"/>
                </a:solidFill>
                <a:latin typeface="Arial"/>
                <a:ea typeface="Arial"/>
                <a:cs typeface="Arial"/>
              </a:rPr>
              <a:t>Identity and mutual authentication (ML-DSA), signed firmware (SLH-DSA/LMS), key exchange (ML-KEM) that stays safe against quantum attack.</a:t>
            </a:r>
            <a:endParaRPr lang="en-US" sz="2000"/>
          </a:p>
        </p:txBody>
      </p:sp>
      <p:sp>
        <p:nvSpPr>
          <p:cNvPr id="578913088" name="Shape 4"/>
          <p:cNvSpPr/>
          <p:nvPr/>
        </p:nvSpPr>
        <p:spPr bwMode="auto">
          <a:xfrm>
            <a:off x="4403724" y="2144500"/>
            <a:ext cx="3384550" cy="1636812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600"/>
          </a:p>
        </p:txBody>
      </p:sp>
      <p:sp>
        <p:nvSpPr>
          <p:cNvPr id="1713997295" name="Text 5"/>
          <p:cNvSpPr/>
          <p:nvPr/>
        </p:nvSpPr>
        <p:spPr bwMode="auto">
          <a:xfrm>
            <a:off x="4616449" y="2357225"/>
            <a:ext cx="304787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  <a:defRPr/>
            </a:pPr>
            <a:r>
              <a:rPr lang="en-US" sz="280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QKD helps with</a:t>
            </a:r>
            <a:endParaRPr lang="en-US" sz="2400"/>
          </a:p>
        </p:txBody>
      </p:sp>
      <p:sp>
        <p:nvSpPr>
          <p:cNvPr id="1661965157" name="Text 6"/>
          <p:cNvSpPr/>
          <p:nvPr/>
        </p:nvSpPr>
        <p:spPr bwMode="auto">
          <a:xfrm>
            <a:off x="4616449" y="2677206"/>
            <a:ext cx="3047873" cy="916781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/>
          <a:p>
            <a:pPr marL="0" indent="0" algn="l">
              <a:lnSpc>
                <a:spcPts val="1755"/>
              </a:lnSpc>
              <a:buNone/>
              <a:defRPr/>
            </a:pPr>
            <a:r>
              <a:rPr lang="en-US" sz="1800">
                <a:solidFill>
                  <a:srgbClr val="111111"/>
                </a:solidFill>
                <a:latin typeface="Arial"/>
                <a:ea typeface="Arial"/>
                <a:cs typeface="Arial"/>
              </a:rPr>
              <a:t>Fresh symmetric keys on fixed fibre links, and long-term confidentiality for selected flows. It still needs authentication.</a:t>
            </a:r>
            <a:endParaRPr lang="en-US" sz="2000"/>
          </a:p>
        </p:txBody>
      </p:sp>
      <p:sp>
        <p:nvSpPr>
          <p:cNvPr id="1990556025" name="Shape 7"/>
          <p:cNvSpPr/>
          <p:nvPr/>
        </p:nvSpPr>
        <p:spPr bwMode="auto">
          <a:xfrm>
            <a:off x="7985124" y="2144500"/>
            <a:ext cx="3384550" cy="1636812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600"/>
          </a:p>
        </p:txBody>
      </p:sp>
      <p:sp>
        <p:nvSpPr>
          <p:cNvPr id="922359726" name="Text 8"/>
          <p:cNvSpPr/>
          <p:nvPr/>
        </p:nvSpPr>
        <p:spPr bwMode="auto">
          <a:xfrm>
            <a:off x="8197849" y="2357225"/>
            <a:ext cx="3047873" cy="269180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85000" lnSpcReduction="3000"/>
          </a:bodyPr>
          <a:lstStyle/>
          <a:p>
            <a:pPr marL="0" indent="0" algn="l">
              <a:lnSpc>
                <a:spcPts val="1920"/>
              </a:lnSpc>
              <a:buNone/>
              <a:defRPr/>
            </a:pPr>
            <a:r>
              <a:rPr lang="en-US" sz="280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Not solved by crypto</a:t>
            </a:r>
            <a:endParaRPr lang="en-US" sz="2400"/>
          </a:p>
        </p:txBody>
      </p:sp>
      <p:sp>
        <p:nvSpPr>
          <p:cNvPr id="997104034" name="Text 9"/>
          <p:cNvSpPr/>
          <p:nvPr/>
        </p:nvSpPr>
        <p:spPr bwMode="auto">
          <a:xfrm>
            <a:off x="8197849" y="2677206"/>
            <a:ext cx="3047873" cy="916781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/>
          <a:p>
            <a:pPr marL="0" indent="0" algn="l">
              <a:lnSpc>
                <a:spcPts val="1755"/>
              </a:lnSpc>
              <a:buNone/>
              <a:defRPr/>
            </a:pPr>
            <a:r>
              <a:rPr lang="en-US" sz="160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Compromised endpoints, USB and insider misuse, process-logic attacks, firmware compromised before signing, and denial of service.</a:t>
            </a:r>
            <a:endParaRPr lang="en-US"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521323" name="Text 0"/>
          <p:cNvSpPr/>
          <p:nvPr>
            <p:ph type="title"/>
          </p:nvPr>
        </p:nvSpPr>
        <p:spPr bwMode="auto">
          <a:xfrm>
            <a:off x="812800" y="812800"/>
            <a:ext cx="10883392" cy="4721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  <a:defRPr/>
            </a:pPr>
            <a:r>
              <a:rPr lang="en-US" sz="3200" b="1" i="0">
                <a:solidFill>
                  <a:srgbClr val="1E3A8A"/>
                </a:solidFill>
                <a:latin typeface="Georgia"/>
                <a:ea typeface="Georgia"/>
                <a:cs typeface="Georgia"/>
              </a:rPr>
              <a:t>STRIDE analysis (1 of 2)</a:t>
            </a:r>
            <a:endParaRPr sz="3200" b="1"/>
          </a:p>
        </p:txBody>
      </p:sp>
      <p:graphicFrame>
        <p:nvGraphicFramePr>
          <p:cNvPr id="1063050989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825500" y="1526282"/>
          <a:ext cx="10553700" cy="4315718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10740"/>
                <a:gridCol w="2110740"/>
                <a:gridCol w="2110740"/>
                <a:gridCol w="2110740"/>
                <a:gridCol w="2110740"/>
              </a:tblGrid>
              <a:tr h="723702"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 b="1">
                          <a:solidFill>
                            <a:srgbClr val="1E3A8A"/>
                          </a:solidFill>
                          <a:latin typeface="Arial"/>
                          <a:ea typeface="Arial"/>
                          <a:cs typeface="Arial"/>
                        </a:rPr>
                        <a:t>Threat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BCBCBC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BCBCBC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 b="1">
                          <a:solidFill>
                            <a:srgbClr val="1E3A8A"/>
                          </a:solidFill>
                          <a:latin typeface="Arial"/>
                          <a:ea typeface="Arial"/>
                          <a:cs typeface="Arial"/>
                        </a:rPr>
                        <a:t>Nuclear ICS example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BCBCBC"/>
                      </a:solidFill>
                    </a:lnL>
                    <a:lnR w="12700" algn="ctr">
                      <a:solidFill>
                        <a:srgbClr val="BCBCBC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BCBCBC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 b="1">
                          <a:solidFill>
                            <a:srgbClr val="1E3A8A"/>
                          </a:solidFill>
                          <a:latin typeface="Arial"/>
                          <a:ea typeface="Arial"/>
                          <a:cs typeface="Arial"/>
                        </a:rPr>
                        <a:t>PQC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BCBCBC"/>
                      </a:solidFill>
                    </a:lnL>
                    <a:lnR w="12700" algn="ctr">
                      <a:solidFill>
                        <a:srgbClr val="BCBCBC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BCBCBC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 b="1">
                          <a:solidFill>
                            <a:srgbClr val="1E3A8A"/>
                          </a:solidFill>
                          <a:latin typeface="Arial"/>
                          <a:ea typeface="Arial"/>
                          <a:cs typeface="Arial"/>
                        </a:rPr>
                        <a:t>QKD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BCBCBC"/>
                      </a:solidFill>
                    </a:lnL>
                    <a:lnR w="12700" algn="ctr">
                      <a:solidFill>
                        <a:srgbClr val="BCBCBC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BCBCBC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 b="1">
                          <a:solidFill>
                            <a:srgbClr val="1E3A8A"/>
                          </a:solidFill>
                          <a:latin typeface="Arial"/>
                          <a:ea typeface="Arial"/>
                          <a:cs typeface="Arial"/>
                        </a:rPr>
                        <a:t>Still needed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BCBCBC"/>
                      </a:solidFill>
                    </a:lnL>
                    <a:lnR w="12700" algn="ctr">
                      <a:solidFill>
                        <a:srgbClr val="BCBCBC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BCBCBC"/>
                      </a:solidFill>
                    </a:lnB>
                    <a:solidFill>
                      <a:srgbClr val="ECECEC"/>
                    </a:solidFill>
                  </a:tcPr>
                </a:tc>
              </a:tr>
              <a:tr h="1291927"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000" b="1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</a:rPr>
                        <a:t>S</a:t>
                      </a:r>
                      <a:r>
                        <a:rPr lang="en-US" sz="16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poofing</a:t>
                      </a:r>
                      <a:endParaRPr sz="16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BCBCBC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Rogue device or vendor impersonation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BCBCBC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ML-DSA mutual authentication, quantum-safe identity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BCBCBC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No direct help; needs authenticated channel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BCBCBC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Device allowlisting, MFA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BCBCBC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</a:tr>
              <a:tr h="1291927"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000" b="1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</a:rPr>
                        <a:t>T</a:t>
                      </a:r>
                      <a:r>
                        <a:rPr lang="en-US" sz="16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ampering</a:t>
                      </a:r>
                      <a:endParaRPr sz="16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Setpoint injection, replay, forged firmware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Signed firmware (SLH-DSA/LMS), authenticated encryption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Fresh keys for message authentication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Data diodes, process-level checks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</a:tr>
              <a:tr h="1008162"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000" b="1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  <a:r>
                        <a:rPr lang="en-US" sz="16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epudiation</a:t>
                      </a:r>
                      <a:endParaRPr sz="16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Disputed commands or maintenance actions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ML-DSA signatures on commands and logs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None: symmetric keys cannot prove origin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Audit logging, time sync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0112083" name="Text 0"/>
          <p:cNvSpPr/>
          <p:nvPr>
            <p:ph type="title"/>
          </p:nvPr>
        </p:nvSpPr>
        <p:spPr bwMode="auto">
          <a:xfrm>
            <a:off x="812800" y="812800"/>
            <a:ext cx="10883392" cy="4721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  <a:defRPr/>
            </a:pPr>
            <a:r>
              <a:rPr lang="en-US" sz="3200" b="1" i="0">
                <a:solidFill>
                  <a:srgbClr val="1E3A8A"/>
                </a:solidFill>
                <a:latin typeface="Georgia"/>
                <a:ea typeface="Georgia"/>
                <a:cs typeface="Georgia"/>
              </a:rPr>
              <a:t>STRIDE analysis (2 of 2)</a:t>
            </a:r>
            <a:endParaRPr sz="3200" b="1"/>
          </a:p>
        </p:txBody>
      </p:sp>
      <p:graphicFrame>
        <p:nvGraphicFramePr>
          <p:cNvPr id="2141525017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825500" y="1526282"/>
          <a:ext cx="10553700" cy="4315718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10740"/>
                <a:gridCol w="2110740"/>
                <a:gridCol w="2110740"/>
                <a:gridCol w="2110740"/>
                <a:gridCol w="2110740"/>
              </a:tblGrid>
              <a:tr h="723702"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 b="1">
                          <a:solidFill>
                            <a:srgbClr val="1E3A8A"/>
                          </a:solidFill>
                          <a:latin typeface="Arial"/>
                          <a:ea typeface="Arial"/>
                          <a:cs typeface="Arial"/>
                        </a:rPr>
                        <a:t>Threat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BCBCBC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BCBCBC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 b="1">
                          <a:solidFill>
                            <a:srgbClr val="1E3A8A"/>
                          </a:solidFill>
                          <a:latin typeface="Arial"/>
                          <a:ea typeface="Arial"/>
                          <a:cs typeface="Arial"/>
                        </a:rPr>
                        <a:t>Nuclear ICS example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BCBCBC"/>
                      </a:solidFill>
                    </a:lnL>
                    <a:lnR w="12700" algn="ctr">
                      <a:solidFill>
                        <a:srgbClr val="BCBCBC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BCBCBC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 b="1">
                          <a:solidFill>
                            <a:srgbClr val="1E3A8A"/>
                          </a:solidFill>
                          <a:latin typeface="Arial"/>
                          <a:ea typeface="Arial"/>
                          <a:cs typeface="Arial"/>
                        </a:rPr>
                        <a:t>PQC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BCBCBC"/>
                      </a:solidFill>
                    </a:lnL>
                    <a:lnR w="12700" algn="ctr">
                      <a:solidFill>
                        <a:srgbClr val="BCBCBC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BCBCBC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 b="1">
                          <a:solidFill>
                            <a:srgbClr val="1E3A8A"/>
                          </a:solidFill>
                          <a:latin typeface="Arial"/>
                          <a:ea typeface="Arial"/>
                          <a:cs typeface="Arial"/>
                        </a:rPr>
                        <a:t>QKD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BCBCBC"/>
                      </a:solidFill>
                    </a:lnL>
                    <a:lnR w="12700" algn="ctr">
                      <a:solidFill>
                        <a:srgbClr val="BCBCBC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BCBCBC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 b="1">
                          <a:solidFill>
                            <a:srgbClr val="1E3A8A"/>
                          </a:solidFill>
                          <a:latin typeface="Arial"/>
                          <a:ea typeface="Arial"/>
                          <a:cs typeface="Arial"/>
                        </a:rPr>
                        <a:t>Still needed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BCBCBC"/>
                      </a:solidFill>
                    </a:lnL>
                    <a:lnR w="12700" algn="ctr">
                      <a:solidFill>
                        <a:srgbClr val="BCBCBC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BCBCBC"/>
                      </a:solidFill>
                    </a:lnB>
                    <a:solidFill>
                      <a:srgbClr val="ECECEC"/>
                    </a:solidFill>
                  </a:tcPr>
                </a:tc>
              </a:tr>
              <a:tr h="1575693"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000" b="1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</a:rPr>
                        <a:t>I</a:t>
                      </a:r>
                      <a:r>
                        <a:rPr lang="en-US" sz="16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nformation disclosure</a:t>
                      </a:r>
                      <a:endParaRPr sz="16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BCBCBC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Eavesdropping; harvest-now-decrypt-later of design and safeguards data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BCBCBC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Hybrid ML-KEM key exchange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BCBCBC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Seeds keys for long-confidentiality fixed links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BCBCBC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Data classification, retention limits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BCBCBC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</a:tr>
              <a:tr h="1008162"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000" b="1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</a:rPr>
                        <a:t>D</a:t>
                      </a:r>
                      <a:r>
                        <a:rPr lang="en-US" sz="16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enial of service</a:t>
                      </a:r>
                      <a:endParaRPr sz="16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Flooding; key-supply loss; fibre cut or alarm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Adds handshake load; larger packets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Alarm or fibre cut stops key supply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PQC fallback, redundancy, rate limits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</a:tr>
              <a:tr h="1008162"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800" b="1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</a:rPr>
                        <a:t>E</a:t>
                      </a:r>
                      <a:r>
                        <a:rPr lang="en-US" sz="16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levation of privilege</a:t>
                      </a:r>
                      <a:endParaRPr sz="16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Rogue engineering workstation or stolen credentials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Role-bound certificates, signed commands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None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Least privilege, segmentation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0490673" name="Text 0"/>
          <p:cNvSpPr/>
          <p:nvPr>
            <p:ph type="title"/>
          </p:nvPr>
        </p:nvSpPr>
        <p:spPr bwMode="auto"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  <a:defRPr/>
            </a:pPr>
            <a:r>
              <a:rPr lang="en-US" sz="3200" b="1" i="0">
                <a:solidFill>
                  <a:srgbClr val="1E3A8A"/>
                </a:solidFill>
                <a:latin typeface="Georgia"/>
                <a:ea typeface="Georgia"/>
                <a:cs typeface="Georgia"/>
              </a:rPr>
              <a:t>Dominant threats and response by zone</a:t>
            </a:r>
            <a:endParaRPr sz="3200" b="1"/>
          </a:p>
        </p:txBody>
      </p:sp>
      <p:graphicFrame>
        <p:nvGraphicFramePr>
          <p:cNvPr id="898245490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825500" y="1526480"/>
          <a:ext cx="10553700" cy="4057749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517900"/>
                <a:gridCol w="3517900"/>
                <a:gridCol w="3517900"/>
              </a:tblGrid>
              <a:tr h="439241"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 b="1">
                          <a:solidFill>
                            <a:srgbClr val="1E3A8A"/>
                          </a:solidFill>
                          <a:latin typeface="Arial"/>
                          <a:ea typeface="Arial"/>
                          <a:cs typeface="Arial"/>
                        </a:rPr>
                        <a:t>Zone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BCBCBC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BCBCBC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 b="1">
                          <a:solidFill>
                            <a:srgbClr val="1E3A8A"/>
                          </a:solidFill>
                          <a:latin typeface="Arial"/>
                          <a:ea typeface="Arial"/>
                          <a:cs typeface="Arial"/>
                        </a:rPr>
                        <a:t>Dominant STRIDE threats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BCBCBC"/>
                      </a:solidFill>
                    </a:lnL>
                    <a:lnR w="12700" algn="ctr">
                      <a:solidFill>
                        <a:srgbClr val="BCBCBC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BCBCBC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 b="1">
                          <a:solidFill>
                            <a:srgbClr val="1E3A8A"/>
                          </a:solidFill>
                          <a:latin typeface="Arial"/>
                          <a:ea typeface="Arial"/>
                          <a:cs typeface="Arial"/>
                        </a:rPr>
                        <a:t>Cryptographic response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BCBCBC"/>
                      </a:solidFill>
                    </a:lnL>
                    <a:lnR w="12700" algn="ctr">
                      <a:solidFill>
                        <a:srgbClr val="BCBCBC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BCBCBC"/>
                      </a:solidFill>
                    </a:lnB>
                    <a:solidFill>
                      <a:srgbClr val="ECECEC"/>
                    </a:solidFill>
                  </a:tcPr>
                </a:tc>
              </a:tr>
              <a:tr h="723702"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Z1 Safety</a:t>
                      </a:r>
                      <a:endParaRPr sz="16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BCBCBC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Tampering, denial of service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BCBCBC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No remote keys; data diode; signed firmware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BCBCBC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</a:tr>
              <a:tr h="723702"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Z2 Control</a:t>
                      </a:r>
                      <a:endParaRPr sz="16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Spoofing, tampering, DoS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MACsec at boundaries; PQC fallback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</a:tr>
              <a:tr h="723702"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Z3 Supervisory</a:t>
                      </a:r>
                      <a:endParaRPr sz="16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Spoofing, tampering, repudiation, elevation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ML-DSA authentication; signed commands and logs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</a:tr>
              <a:tr h="723702"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Z4 DMZ / remote</a:t>
                      </a:r>
                      <a:endParaRPr sz="16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Spoofing, disclosure, elevation, DoS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Hybrid KEM; ML-DSA PKI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</a:tr>
              <a:tr h="723702"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Z5 Enterprise</a:t>
                      </a:r>
                      <a:endParaRPr sz="16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Disclosure, spoofing, repudiation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6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Hybrid TLS; QKD-seeded links where fibre is fixed</a:t>
                      </a:r>
                      <a:endParaRPr lang="en-US" sz="16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0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1733141" name="Text 0"/>
          <p:cNvSpPr/>
          <p:nvPr>
            <p:ph type="title"/>
          </p:nvPr>
        </p:nvSpPr>
        <p:spPr bwMode="auto"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  <a:defRPr/>
            </a:pPr>
            <a:r>
              <a:rPr lang="en-US" sz="3200" b="1" i="0">
                <a:solidFill>
                  <a:srgbClr val="1E3A8A"/>
                </a:solidFill>
                <a:latin typeface="Georgia"/>
                <a:ea typeface="Georgia"/>
                <a:cs typeface="Georgia"/>
              </a:rPr>
              <a:t>One question, five setups</a:t>
            </a:r>
            <a:endParaRPr sz="3200" b="1"/>
          </a:p>
        </p:txBody>
      </p:sp>
      <p:sp>
        <p:nvSpPr>
          <p:cNvPr id="1245787077" name="Text 1"/>
          <p:cNvSpPr/>
          <p:nvPr/>
        </p:nvSpPr>
        <p:spPr bwMode="auto">
          <a:xfrm>
            <a:off x="825499" y="1941714"/>
            <a:ext cx="10883392" cy="6082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  <a:defRPr/>
            </a:pPr>
            <a:r>
              <a:rPr lang="en-US" sz="180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For each IEC 62443 zone, which profile meets the target security level within the control-loop delay margin, key-supply limits and regulatory constraints?</a:t>
            </a:r>
            <a:endParaRPr sz="1800" b="1"/>
          </a:p>
        </p:txBody>
      </p:sp>
      <p:graphicFrame>
        <p:nvGraphicFramePr>
          <p:cNvPr id="277526951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825499" y="3191551"/>
          <a:ext cx="10553700" cy="1162943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10740"/>
                <a:gridCol w="2110740"/>
                <a:gridCol w="2110740"/>
                <a:gridCol w="2110740"/>
                <a:gridCol w="2110740"/>
              </a:tblGrid>
              <a:tr h="552716"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000" b="1">
                          <a:solidFill>
                            <a:srgbClr val="1E3A8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  <a:endParaRPr sz="20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BCBCBC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BCBCBC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000" b="1">
                          <a:solidFill>
                            <a:srgbClr val="1E3A8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  <a:endParaRPr sz="20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BCBCBC"/>
                      </a:solidFill>
                    </a:lnL>
                    <a:lnR w="12700" algn="ctr">
                      <a:solidFill>
                        <a:srgbClr val="BCBCBC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BCBCBC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000" b="1">
                          <a:solidFill>
                            <a:srgbClr val="1E3A8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  <a:endParaRPr sz="20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BCBCBC"/>
                      </a:solidFill>
                    </a:lnL>
                    <a:lnR w="12700" algn="ctr">
                      <a:solidFill>
                        <a:srgbClr val="BCBCBC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BCBCBC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000" b="1">
                          <a:solidFill>
                            <a:srgbClr val="1E3A8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  <a:endParaRPr sz="20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BCBCBC"/>
                      </a:solidFill>
                    </a:lnL>
                    <a:lnR w="12700" algn="ctr">
                      <a:solidFill>
                        <a:srgbClr val="BCBCBC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BCBCBC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000" b="1">
                          <a:solidFill>
                            <a:srgbClr val="1E3A8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  <a:endParaRPr sz="20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BCBCBC"/>
                      </a:solidFill>
                    </a:lnL>
                    <a:lnR w="12700" algn="ctr">
                      <a:solidFill>
                        <a:srgbClr val="BCBCBC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BCBCBC"/>
                      </a:solidFill>
                    </a:lnB>
                    <a:solidFill>
                      <a:srgbClr val="ECECEC"/>
                    </a:solidFill>
                  </a:tcPr>
                </a:tc>
              </a:tr>
              <a:tr h="1252906"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0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Plaintext legacy</a:t>
                      </a:r>
                      <a:endParaRPr sz="20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BCBCBC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0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Classical ECDHE + AES-256</a:t>
                      </a:r>
                      <a:endParaRPr sz="20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BCBCBC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0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PQC-only</a:t>
                      </a:r>
                      <a:endParaRPr sz="20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BCBCBC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0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Classical + PQC</a:t>
                      </a:r>
                      <a:endParaRPr sz="20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BCBCBC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20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PQC + QKD-seeded keys</a:t>
                      </a:r>
                      <a:endParaRPr sz="20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BCBCBC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1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985757" name="Text 0"/>
          <p:cNvSpPr/>
          <p:nvPr>
            <p:ph type="title"/>
          </p:nvPr>
        </p:nvSpPr>
        <p:spPr bwMode="auto"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  <a:defRPr/>
            </a:pPr>
            <a:r>
              <a:rPr lang="en-US" sz="3200" b="1" i="0">
                <a:solidFill>
                  <a:srgbClr val="1E3A8A"/>
                </a:solidFill>
                <a:latin typeface="Georgia"/>
                <a:ea typeface="Georgia"/>
                <a:cs typeface="Georgia"/>
              </a:rPr>
              <a:t>Key management by zone</a:t>
            </a:r>
            <a:endParaRPr sz="3200" b="1"/>
          </a:p>
        </p:txBody>
      </p:sp>
      <p:graphicFrame>
        <p:nvGraphicFramePr>
          <p:cNvPr id="1525008008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825499" y="1940610"/>
          <a:ext cx="10553700" cy="3488829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5276850"/>
                <a:gridCol w="5276850"/>
              </a:tblGrid>
              <a:tr h="439241"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800" b="1">
                          <a:solidFill>
                            <a:srgbClr val="1E3A8A"/>
                          </a:solidFill>
                          <a:latin typeface="Arial"/>
                          <a:ea typeface="Arial"/>
                          <a:cs typeface="Arial"/>
                        </a:rPr>
                        <a:t>Zone</a:t>
                      </a:r>
                      <a:endParaRPr lang="en-US"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BCBCBC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BCBCBC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800" b="1">
                          <a:solidFill>
                            <a:srgbClr val="1E3A8A"/>
                          </a:solidFill>
                          <a:latin typeface="Arial"/>
                          <a:ea typeface="Arial"/>
                          <a:cs typeface="Arial"/>
                        </a:rPr>
                        <a:t>Cryptographic profile</a:t>
                      </a:r>
                      <a:endParaRPr lang="en-US"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BCBCBC"/>
                      </a:solidFill>
                    </a:lnL>
                    <a:lnR w="12700" algn="ctr">
                      <a:solidFill>
                        <a:srgbClr val="BCBCBC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BCBCBC"/>
                      </a:solidFill>
                    </a:lnB>
                    <a:solidFill>
                      <a:srgbClr val="ECECEC"/>
                    </a:solidFill>
                  </a:tcPr>
                </a:tc>
              </a:tr>
              <a:tr h="723702"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8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Z1 Safety</a:t>
                      </a:r>
                      <a:endParaRPr sz="18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BCBCBC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8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One-way data diode, no remote keys, pre-shared AES-256, PQC-signed firmware. No QKD.</a:t>
                      </a:r>
                      <a:endParaRPr lang="en-US"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BCBCBC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</a:tr>
              <a:tr h="723702"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8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Z2 Control</a:t>
                      </a:r>
                      <a:endParaRPr sz="18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8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MACsec AES-256 at boundaries, PLCs unmodified; QKD-seeded keys with PQC fallback</a:t>
                      </a:r>
                      <a:endParaRPr lang="en-US"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</a:tr>
              <a:tr h="723702"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8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Z3 Supervisory</a:t>
                      </a:r>
                      <a:endParaRPr sz="18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8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IKEv2 with ML-KEM plus QKD-seeded key; OPC UA via gateway</a:t>
                      </a:r>
                      <a:endParaRPr lang="en-US"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</a:tr>
              <a:tr h="439241"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8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Z4 DMZ / remote</a:t>
                      </a:r>
                      <a:endParaRPr sz="18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8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Hybrid X25519 + ML-KEM-768, ML-DSA certificates</a:t>
                      </a:r>
                      <a:endParaRPr lang="en-US"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</a:tr>
              <a:tr h="439241"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8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Z5 Enterprise</a:t>
                      </a:r>
                      <a:endParaRPr sz="1800" b="1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2240"/>
                        </a:lnSpc>
                        <a:buNone/>
                        <a:defRPr/>
                      </a:pPr>
                      <a:r>
                        <a:rPr lang="en-US" sz="180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Hybrid TLS 1.3; QKD only on fixed dark-fibre sites</a:t>
                      </a:r>
                      <a:endParaRPr lang="en-US"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1120" marR="71120" marT="71120" marB="71120" anchor="t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0452735" name="Text 0"/>
          <p:cNvSpPr/>
          <p:nvPr>
            <p:ph type="title"/>
          </p:nvPr>
        </p:nvSpPr>
        <p:spPr bwMode="auto"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  <a:defRPr/>
            </a:pPr>
            <a:r>
              <a:rPr lang="en-US" sz="3200" b="1" i="0">
                <a:solidFill>
                  <a:srgbClr val="1E3A8A"/>
                </a:solidFill>
                <a:latin typeface="Georgia"/>
                <a:ea typeface="Georgia"/>
                <a:cs typeface="Georgia"/>
              </a:rPr>
              <a:t>Making QKD defensible</a:t>
            </a:r>
            <a:endParaRPr lang="en-US" sz="3200"/>
          </a:p>
        </p:txBody>
      </p:sp>
      <p:sp>
        <p:nvSpPr>
          <p:cNvPr id="678823423" name="Shape 1"/>
          <p:cNvSpPr/>
          <p:nvPr/>
        </p:nvSpPr>
        <p:spPr bwMode="auto">
          <a:xfrm>
            <a:off x="822324" y="2351565"/>
            <a:ext cx="2489200" cy="1636812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400"/>
          </a:p>
        </p:txBody>
      </p:sp>
      <p:sp>
        <p:nvSpPr>
          <p:cNvPr id="245524505" name="Text 2"/>
          <p:cNvSpPr/>
          <p:nvPr/>
        </p:nvSpPr>
        <p:spPr bwMode="auto">
          <a:xfrm>
            <a:off x="1035049" y="2564290"/>
            <a:ext cx="2125663" cy="269180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/>
          <a:p>
            <a:pPr marL="0" indent="0" algn="l">
              <a:lnSpc>
                <a:spcPts val="1920"/>
              </a:lnSpc>
              <a:buNone/>
              <a:defRPr/>
            </a:pPr>
            <a:r>
              <a:rPr lang="en-US" sz="260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Authenticate it</a:t>
            </a:r>
            <a:endParaRPr lang="en-US" sz="2200"/>
          </a:p>
        </p:txBody>
      </p:sp>
      <p:sp>
        <p:nvSpPr>
          <p:cNvPr id="474552321" name="Text 3"/>
          <p:cNvSpPr/>
          <p:nvPr/>
        </p:nvSpPr>
        <p:spPr bwMode="auto">
          <a:xfrm>
            <a:off x="1035049" y="2884271"/>
            <a:ext cx="2125663" cy="693936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/>
          <a:p>
            <a:pPr marL="0" indent="0" algn="l">
              <a:lnSpc>
                <a:spcPts val="1755"/>
              </a:lnSpc>
              <a:buNone/>
              <a:defRPr/>
            </a:pPr>
            <a:r>
              <a:rPr lang="en-US" sz="1600">
                <a:solidFill>
                  <a:srgbClr val="111111"/>
                </a:solidFill>
                <a:latin typeface="Arial"/>
                <a:ea typeface="Arial"/>
                <a:cs typeface="Arial"/>
              </a:rPr>
              <a:t>Pre-shared Wegman–Carter key or ML-DSA, stated explicitly.</a:t>
            </a:r>
            <a:endParaRPr lang="en-US" sz="1800"/>
          </a:p>
        </p:txBody>
      </p:sp>
      <p:sp>
        <p:nvSpPr>
          <p:cNvPr id="58814083" name="Shape 4"/>
          <p:cNvSpPr/>
          <p:nvPr/>
        </p:nvSpPr>
        <p:spPr bwMode="auto">
          <a:xfrm>
            <a:off x="3508374" y="2351565"/>
            <a:ext cx="2489200" cy="1636812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400"/>
          </a:p>
        </p:txBody>
      </p:sp>
      <p:sp>
        <p:nvSpPr>
          <p:cNvPr id="909485686" name="Text 5"/>
          <p:cNvSpPr/>
          <p:nvPr/>
        </p:nvSpPr>
        <p:spPr bwMode="auto">
          <a:xfrm>
            <a:off x="3721099" y="2564290"/>
            <a:ext cx="2125663" cy="269180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85000" lnSpcReduction="3000"/>
          </a:bodyPr>
          <a:lstStyle/>
          <a:p>
            <a:pPr marL="0" indent="0" algn="l">
              <a:lnSpc>
                <a:spcPts val="1920"/>
              </a:lnSpc>
              <a:buNone/>
              <a:defRPr/>
            </a:pPr>
            <a:r>
              <a:rPr lang="en-US" sz="220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Finite-key bounds</a:t>
            </a:r>
            <a:endParaRPr lang="en-US" sz="2200"/>
          </a:p>
        </p:txBody>
      </p:sp>
      <p:sp>
        <p:nvSpPr>
          <p:cNvPr id="1363827386" name="Text 6"/>
          <p:cNvSpPr/>
          <p:nvPr/>
        </p:nvSpPr>
        <p:spPr bwMode="auto">
          <a:xfrm>
            <a:off x="3721099" y="2884271"/>
            <a:ext cx="2125663" cy="916781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/>
          <a:p>
            <a:pPr marL="0" indent="0" algn="l">
              <a:lnSpc>
                <a:spcPts val="1755"/>
              </a:lnSpc>
              <a:buNone/>
              <a:defRPr/>
            </a:pPr>
            <a:r>
              <a:rPr lang="en-US" sz="160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Composable bound with explicit secrecy and correctness errors; decoy states bound PNS.</a:t>
            </a:r>
            <a:endParaRPr lang="en-US" sz="1800"/>
          </a:p>
        </p:txBody>
      </p:sp>
      <p:sp>
        <p:nvSpPr>
          <p:cNvPr id="1246971641" name="Shape 7"/>
          <p:cNvSpPr/>
          <p:nvPr/>
        </p:nvSpPr>
        <p:spPr bwMode="auto">
          <a:xfrm>
            <a:off x="6194424" y="2351565"/>
            <a:ext cx="2489200" cy="1636812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400"/>
          </a:p>
        </p:txBody>
      </p:sp>
      <p:sp>
        <p:nvSpPr>
          <p:cNvPr id="1956453397" name="Text 8"/>
          <p:cNvSpPr/>
          <p:nvPr/>
        </p:nvSpPr>
        <p:spPr bwMode="auto">
          <a:xfrm>
            <a:off x="6407149" y="2564290"/>
            <a:ext cx="2125663" cy="269180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85000" lnSpcReduction="3000"/>
          </a:bodyPr>
          <a:lstStyle/>
          <a:p>
            <a:pPr marL="0" indent="0" algn="l">
              <a:lnSpc>
                <a:spcPts val="1920"/>
              </a:lnSpc>
              <a:buNone/>
              <a:defRPr/>
            </a:pPr>
            <a:r>
              <a:rPr lang="en-US" sz="260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Combine safely</a:t>
            </a:r>
            <a:endParaRPr lang="en-US" sz="2200"/>
          </a:p>
        </p:txBody>
      </p:sp>
      <p:sp>
        <p:nvSpPr>
          <p:cNvPr id="108159749" name="Text 9"/>
          <p:cNvSpPr/>
          <p:nvPr/>
        </p:nvSpPr>
        <p:spPr bwMode="auto">
          <a:xfrm>
            <a:off x="6407149" y="2884271"/>
            <a:ext cx="2125663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  <a:defRPr/>
            </a:pPr>
            <a:r>
              <a:rPr lang="en-US" sz="1800">
                <a:solidFill>
                  <a:srgbClr val="111111"/>
                </a:solidFill>
                <a:latin typeface="Arial"/>
                <a:ea typeface="Arial"/>
                <a:cs typeface="Arial"/>
              </a:rPr>
              <a:t>KMAC256 with zone, conduit and transcript context.</a:t>
            </a:r>
            <a:endParaRPr lang="en-US" sz="1800"/>
          </a:p>
        </p:txBody>
      </p:sp>
      <p:sp>
        <p:nvSpPr>
          <p:cNvPr id="1168189554" name="Shape 10"/>
          <p:cNvSpPr/>
          <p:nvPr/>
        </p:nvSpPr>
        <p:spPr bwMode="auto">
          <a:xfrm>
            <a:off x="8880474" y="2351565"/>
            <a:ext cx="2489200" cy="1636812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400"/>
          </a:p>
        </p:txBody>
      </p:sp>
      <p:sp>
        <p:nvSpPr>
          <p:cNvPr id="1081305237" name="Text 11"/>
          <p:cNvSpPr/>
          <p:nvPr/>
        </p:nvSpPr>
        <p:spPr bwMode="auto">
          <a:xfrm>
            <a:off x="9093199" y="2564290"/>
            <a:ext cx="2125663" cy="269180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/>
          <a:p>
            <a:pPr marL="0" indent="0" algn="l">
              <a:lnSpc>
                <a:spcPts val="1920"/>
              </a:lnSpc>
              <a:buNone/>
              <a:defRPr/>
            </a:pPr>
            <a:r>
              <a:rPr lang="en-US" sz="260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Fail gracefully</a:t>
            </a:r>
            <a:endParaRPr lang="en-US" sz="2200"/>
          </a:p>
        </p:txBody>
      </p:sp>
      <p:sp>
        <p:nvSpPr>
          <p:cNvPr id="1376597946" name="Text 12"/>
          <p:cNvSpPr/>
          <p:nvPr/>
        </p:nvSpPr>
        <p:spPr bwMode="auto">
          <a:xfrm>
            <a:off x="9093199" y="2884271"/>
            <a:ext cx="2125663" cy="693936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5000" lnSpcReduction="1000"/>
          </a:bodyPr>
          <a:lstStyle/>
          <a:p>
            <a:pPr marL="0" indent="0" algn="l">
              <a:lnSpc>
                <a:spcPts val="1755"/>
              </a:lnSpc>
              <a:buNone/>
              <a:defRPr/>
            </a:pPr>
            <a:r>
              <a:rPr lang="en-US" sz="1800">
                <a:solidFill>
                  <a:srgbClr val="111111"/>
                </a:solidFill>
                <a:latin typeface="Arial"/>
                <a:ea typeface="Arial"/>
                <a:cs typeface="Arial"/>
              </a:rPr>
              <a:t>QKD outage switches to PQC-only keys; never fail closed.</a:t>
            </a:r>
            <a:endParaRPr lang="en-US" sz="18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2188746" name="Text 0"/>
          <p:cNvSpPr/>
          <p:nvPr>
            <p:ph type="title"/>
          </p:nvPr>
        </p:nvSpPr>
        <p:spPr bwMode="auto"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  <a:defRPr/>
            </a:pPr>
            <a:r>
              <a:rPr lang="en-US" sz="3200" b="1" i="0">
                <a:solidFill>
                  <a:srgbClr val="1E3A8A"/>
                </a:solidFill>
                <a:latin typeface="Georgia"/>
                <a:ea typeface="Georgia"/>
                <a:cs typeface="Georgia"/>
              </a:rPr>
              <a:t>How it will be evaluated</a:t>
            </a:r>
            <a:endParaRPr sz="3200" b="1"/>
          </a:p>
        </p:txBody>
      </p:sp>
      <p:sp>
        <p:nvSpPr>
          <p:cNvPr id="1612944534" name="Shape 1"/>
          <p:cNvSpPr/>
          <p:nvPr/>
        </p:nvSpPr>
        <p:spPr bwMode="auto">
          <a:xfrm>
            <a:off x="822324" y="2213522"/>
            <a:ext cx="3384550" cy="1636812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400"/>
          </a:p>
        </p:txBody>
      </p:sp>
      <p:sp>
        <p:nvSpPr>
          <p:cNvPr id="1702968365" name="Text 2"/>
          <p:cNvSpPr/>
          <p:nvPr/>
        </p:nvSpPr>
        <p:spPr bwMode="auto">
          <a:xfrm>
            <a:off x="1035049" y="2426247"/>
            <a:ext cx="304787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  <a:defRPr/>
            </a:pPr>
            <a:r>
              <a:rPr lang="en-US" sz="260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Emulated testbed</a:t>
            </a:r>
            <a:endParaRPr lang="en-US" sz="2200"/>
          </a:p>
        </p:txBody>
      </p:sp>
      <p:sp>
        <p:nvSpPr>
          <p:cNvPr id="654908679" name="Text 3"/>
          <p:cNvSpPr/>
          <p:nvPr/>
        </p:nvSpPr>
        <p:spPr bwMode="auto">
          <a:xfrm>
            <a:off x="1035049" y="2746228"/>
            <a:ext cx="3047873" cy="693936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/>
          <a:p>
            <a:pPr marL="0" indent="0" algn="l">
              <a:lnSpc>
                <a:spcPts val="1755"/>
              </a:lnSpc>
              <a:buNone/>
              <a:defRPr/>
            </a:pPr>
            <a:r>
              <a:rPr lang="en-US" sz="1600">
                <a:solidFill>
                  <a:srgbClr val="111111"/>
                </a:solidFill>
                <a:latin typeface="Arial"/>
                <a:ea typeface="Arial"/>
                <a:cs typeface="Arial"/>
              </a:rPr>
              <a:t>OpenPLC + Mininet + reactor model. Measure handshake and rekey delay and control-loop delay margin.</a:t>
            </a:r>
            <a:endParaRPr lang="en-US" sz="1800"/>
          </a:p>
        </p:txBody>
      </p:sp>
      <p:sp>
        <p:nvSpPr>
          <p:cNvPr id="2055120316" name="Shape 4"/>
          <p:cNvSpPr/>
          <p:nvPr/>
        </p:nvSpPr>
        <p:spPr bwMode="auto">
          <a:xfrm>
            <a:off x="4403724" y="2213522"/>
            <a:ext cx="3384550" cy="1636812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400"/>
          </a:p>
        </p:txBody>
      </p:sp>
      <p:sp>
        <p:nvSpPr>
          <p:cNvPr id="715315148" name="Text 5"/>
          <p:cNvSpPr/>
          <p:nvPr/>
        </p:nvSpPr>
        <p:spPr bwMode="auto">
          <a:xfrm>
            <a:off x="4616449" y="2426247"/>
            <a:ext cx="304787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  <a:defRPr/>
            </a:pPr>
            <a:r>
              <a:rPr lang="en-US" sz="260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Zone index (ZPI)</a:t>
            </a:r>
            <a:endParaRPr lang="en-US" sz="2200"/>
          </a:p>
        </p:txBody>
      </p:sp>
      <p:sp>
        <p:nvSpPr>
          <p:cNvPr id="1176078113" name="Text 6"/>
          <p:cNvSpPr/>
          <p:nvPr/>
        </p:nvSpPr>
        <p:spPr bwMode="auto">
          <a:xfrm>
            <a:off x="4616449" y="2746228"/>
            <a:ext cx="3047873" cy="916781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/>
          <a:p>
            <a:pPr marL="0" indent="0" algn="l">
              <a:lnSpc>
                <a:spcPts val="1755"/>
              </a:lnSpc>
              <a:buNone/>
              <a:defRPr/>
            </a:pPr>
            <a:r>
              <a:rPr lang="en-US" sz="1800">
                <a:solidFill>
                  <a:srgbClr val="111111"/>
                </a:solidFill>
                <a:latin typeface="Arial"/>
                <a:ea typeface="Arial"/>
                <a:cs typeface="Arial"/>
              </a:rPr>
              <a:t>Break-both rule for QKD + PQC; weakest-link-aware aggregation; AHP weights favouring availability and integrity.</a:t>
            </a:r>
            <a:endParaRPr lang="en-US" sz="1800"/>
          </a:p>
        </p:txBody>
      </p:sp>
      <p:sp>
        <p:nvSpPr>
          <p:cNvPr id="1212712247" name="Shape 7"/>
          <p:cNvSpPr/>
          <p:nvPr/>
        </p:nvSpPr>
        <p:spPr bwMode="auto">
          <a:xfrm>
            <a:off x="7985124" y="2213522"/>
            <a:ext cx="3384550" cy="1636812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400"/>
          </a:p>
        </p:txBody>
      </p:sp>
      <p:sp>
        <p:nvSpPr>
          <p:cNvPr id="2025266563" name="Text 8"/>
          <p:cNvSpPr/>
          <p:nvPr/>
        </p:nvSpPr>
        <p:spPr bwMode="auto">
          <a:xfrm>
            <a:off x="8197849" y="2426247"/>
            <a:ext cx="304787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  <a:defRPr/>
            </a:pPr>
            <a:r>
              <a:rPr lang="en-US" sz="260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Validation</a:t>
            </a:r>
            <a:endParaRPr lang="en-US" sz="2200"/>
          </a:p>
        </p:txBody>
      </p:sp>
      <p:sp>
        <p:nvSpPr>
          <p:cNvPr id="1900334202" name="Text 9"/>
          <p:cNvSpPr/>
          <p:nvPr/>
        </p:nvSpPr>
        <p:spPr bwMode="auto">
          <a:xfrm>
            <a:off x="8197849" y="2746228"/>
            <a:ext cx="3047873" cy="693936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85000" lnSpcReduction="3000"/>
          </a:bodyPr>
          <a:lstStyle/>
          <a:p>
            <a:pPr marL="0" indent="0" algn="l">
              <a:lnSpc>
                <a:spcPts val="1755"/>
              </a:lnSpc>
              <a:buNone/>
              <a:defRPr/>
            </a:pPr>
            <a:r>
              <a:rPr lang="en-US" sz="1800">
                <a:solidFill>
                  <a:srgbClr val="111111"/>
                </a:solidFill>
                <a:latin typeface="Arial"/>
                <a:ea typeface="Arial"/>
                <a:cs typeface="Arial"/>
              </a:rPr>
              <a:t>Effect sizes with CIs, Morris/Sobol sensitivity, Kendall rank correlation with security levels, expert review.</a:t>
            </a:r>
            <a:endParaRPr lang="en-US" sz="18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929040" name="Text 0"/>
          <p:cNvSpPr/>
          <p:nvPr>
            <p:ph type="title"/>
          </p:nvPr>
        </p:nvSpPr>
        <p:spPr bwMode="auto"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  <a:defRPr/>
            </a:pPr>
            <a:r>
              <a:rPr lang="en-US" sz="3200" b="1" i="0">
                <a:solidFill>
                  <a:srgbClr val="1E3A8A"/>
                </a:solidFill>
                <a:latin typeface="Georgia"/>
                <a:ea typeface="Georgia"/>
                <a:cs typeface="Georgia"/>
              </a:rPr>
              <a:t>Outputs and next steps</a:t>
            </a:r>
            <a:endParaRPr sz="3200" b="1"/>
          </a:p>
        </p:txBody>
      </p:sp>
      <p:sp>
        <p:nvSpPr>
          <p:cNvPr id="223382551" name="Text 1"/>
          <p:cNvSpPr/>
          <p:nvPr/>
        </p:nvSpPr>
        <p:spPr bwMode="auto">
          <a:xfrm flipH="0" flipV="0">
            <a:off x="890015" y="2259214"/>
            <a:ext cx="10806175" cy="3483393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/>
          </a:bodyPr>
          <a:lstStyle/>
          <a:p>
            <a:pPr marL="349965" indent="-349965" algn="l">
              <a:lnSpc>
                <a:spcPts val="2550"/>
              </a:lnSpc>
              <a:buSzPct val="100000"/>
              <a:buAutoNum type="arabicPeriod"/>
              <a:defRPr/>
            </a:pPr>
            <a:r>
              <a:rPr lang="en-US" sz="2400">
                <a:solidFill>
                  <a:srgbClr val="111111"/>
                </a:solidFill>
                <a:latin typeface="Arial"/>
                <a:ea typeface="Arial"/>
                <a:cs typeface="Arial"/>
              </a:rPr>
              <a:t>Zone-wise recommendation: where PQC suffices, where QKD adds value</a:t>
            </a:r>
            <a:endParaRPr lang="en-US" sz="2400">
              <a:solidFill>
                <a:srgbClr val="111111"/>
              </a:solidFill>
              <a:latin typeface="Arial"/>
              <a:ea typeface="Arial"/>
              <a:cs typeface="Arial"/>
            </a:endParaRPr>
          </a:p>
          <a:p>
            <a:pPr marL="349965" indent="-349965" algn="l">
              <a:lnSpc>
                <a:spcPts val="2549"/>
              </a:lnSpc>
              <a:buSzPct val="100000"/>
              <a:buAutoNum type="arabicPeriod"/>
              <a:defRPr/>
            </a:pPr>
            <a:endParaRPr lang="en-US" sz="2000"/>
          </a:p>
          <a:p>
            <a:pPr marL="349965" indent="-349965" algn="l">
              <a:lnSpc>
                <a:spcPts val="2550"/>
              </a:lnSpc>
              <a:buSzPct val="100000"/>
              <a:buAutoNum type="arabicPeriod"/>
              <a:defRPr/>
            </a:pPr>
            <a:r>
              <a:rPr lang="en-US" sz="2400">
                <a:solidFill>
                  <a:srgbClr val="111111"/>
                </a:solidFill>
                <a:latin typeface="Arial"/>
                <a:ea typeface="Arial"/>
                <a:cs typeface="Arial"/>
              </a:rPr>
              <a:t>Phased PQC migration path: inventory, hybrid at boundaries, device roots of trust</a:t>
            </a:r>
            <a:endParaRPr lang="en-US" sz="2400">
              <a:solidFill>
                <a:srgbClr val="111111"/>
              </a:solidFill>
              <a:latin typeface="Arial"/>
              <a:ea typeface="Arial"/>
              <a:cs typeface="Arial"/>
            </a:endParaRPr>
          </a:p>
          <a:p>
            <a:pPr marL="349965" indent="-349965" algn="l">
              <a:lnSpc>
                <a:spcPts val="2549"/>
              </a:lnSpc>
              <a:buSzPct val="100000"/>
              <a:buAutoNum type="arabicPeriod"/>
              <a:defRPr/>
            </a:pPr>
            <a:endParaRPr lang="en-US" sz="2000"/>
          </a:p>
          <a:p>
            <a:pPr marL="349965" indent="-349965" algn="l">
              <a:lnSpc>
                <a:spcPts val="2550"/>
              </a:lnSpc>
              <a:buSzPct val="100000"/>
              <a:buAutoNum type="arabicPeriod"/>
              <a:defRPr/>
            </a:pPr>
            <a:r>
              <a:rPr lang="en-US" sz="2400">
                <a:solidFill>
                  <a:srgbClr val="111111"/>
                </a:solidFill>
                <a:latin typeface="Arial"/>
                <a:ea typeface="Arial"/>
                <a:cs typeface="Arial"/>
              </a:rPr>
              <a:t>Next: confirm co-supervisor, source the testbed topology, budget the hardware</a:t>
            </a:r>
            <a:endParaRPr lang="en-US"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Zone-Wise PQC and QKD for SMR Control Systems">
  <a:themeElements>
    <a:clrScheme name="Zone-Wise PQC and QKD for SMR Control Systems">
      <a:dk1>
        <a:srgbClr val="1E3A8A"/>
      </a:dk1>
      <a:lt1>
        <a:srgbClr val="FFFFFF"/>
      </a:lt1>
      <a:dk2>
        <a:srgbClr val="566BA7"/>
      </a:dk2>
      <a:lt2>
        <a:srgbClr val="E9EBF3"/>
      </a:lt2>
      <a:accent1>
        <a:srgbClr val="1D4ED8"/>
      </a:accent1>
      <a:accent2>
        <a:srgbClr val="9AA0A6"/>
      </a:accent2>
      <a:accent3>
        <a:srgbClr val="7889B9"/>
      </a:accent3>
      <a:accent4>
        <a:srgbClr val="9AA6CA"/>
      </a:accent4>
      <a:accent5>
        <a:srgbClr val="BCC4DC"/>
      </a:accent5>
      <a:accent6>
        <a:srgbClr val="D2D8E8"/>
      </a:accent6>
      <a:hlink>
        <a:srgbClr val="0563C1"/>
      </a:hlink>
      <a:folHlink>
        <a:srgbClr val="954F72"/>
      </a:folHlink>
    </a:clrScheme>
    <a:fontScheme name="Zone-Wise PQC and QKD for SMR Control Systems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Zone-Wise PQC and QKD for SMR Control Systems</dc:title>
  <dc:subject/>
  <dc:creator/>
  <cp:lastModifiedBy/>
  <cp:revision>2</cp:revision>
  <dcterms:created xsi:type="dcterms:W3CDTF">2026-10-12T06:08:36Z</dcterms:created>
  <dcterms:modified xsi:type="dcterms:W3CDTF">2026-10-12T10:32:49Z</dcterms:modified>
</cp:coreProperties>
</file>