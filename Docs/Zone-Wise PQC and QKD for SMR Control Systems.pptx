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 moved from "does hybrid help?" to a per-zone decision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 found in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 model: Z1 safety to Z5 enterprise; safety zone is one-way outbound.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Crypto protects channels and identities, not trusted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S, T, R. QKD gives no non-repudiation.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I, D, E. Crypto can create new availability risks.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Mapping drives the profile chosen for each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Classical+PQC shows whether QKD adds anything beyond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zone follows independence and one-way flow principles.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Fixes to Eqs. 2 to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Anomaly detection is a separate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decisions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E3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64580"/>
            <a:ext cx="10566400" cy="448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E3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64580"/>
            <a:ext cx="10566400" cy="448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M.Sc. THESIS PROPOSAL · REVISED APPROACH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315641"/>
            <a:ext cx="10883392" cy="1310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60"/>
              </a:lnSpc>
              <a:buNone/>
            </a:pPr>
            <a:r>
              <a:rPr lang="en-US" sz="46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Zone-wise PQC and QKD for SMR control systems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12800" y="2854722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post-quantum cryptography suffice, and where does QKD add measurable value?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Why the approach changed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91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threat model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28700" y="2049661"/>
            <a:ext cx="3060954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 I&amp;C ranks availability and integrity above confidentiality. The urgent quantum risk is firmware roots of trust and long-retention data.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005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01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crypto cannot stop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0100" y="2049661"/>
            <a:ext cx="306095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Process-level attacks and Stuxnet-type malware bypass link encryption, so they cannot judge a cryptographic choice.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819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915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comparison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91500" y="2049661"/>
            <a:ext cx="306095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RSA/AES baseline, QKD-only without authentication, and an index with arbitrary weights.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Threat surfaces of a nuclear 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9150" y="1520130"/>
            <a:ext cx="3390900" cy="1407616"/>
          </a:xfrm>
          <a:prstGeom prst="roundRect">
            <a:avLst>
              <a:gd name="adj" fmla="val 6767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access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28700" y="2049661"/>
            <a:ext cx="306095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support, remote monitoring and operations links crossing the DMZ.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00550" y="1520130"/>
            <a:ext cx="3390900" cy="1407616"/>
          </a:xfrm>
          <a:prstGeom prst="roundRect">
            <a:avLst>
              <a:gd name="adj" fmla="val 6767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01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IT/OT boundary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0100" y="2049661"/>
            <a:ext cx="306095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Historians, enterprise networks and data gateways between zones.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81950" y="1520130"/>
            <a:ext cx="3390900" cy="1407616"/>
          </a:xfrm>
          <a:prstGeom prst="roundRect">
            <a:avLst>
              <a:gd name="adj" fmla="val 6767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915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endpoints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91500" y="2049661"/>
            <a:ext cx="306095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laptops, USB media and engineering workstations that reach controllers.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9150" y="3194447"/>
            <a:ext cx="3390900" cy="1407616"/>
          </a:xfrm>
          <a:prstGeom prst="roundRect">
            <a:avLst>
              <a:gd name="adj" fmla="val 6767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8700" y="3403997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and firmware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8700" y="3723977"/>
            <a:ext cx="306095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I&amp;C, FPGA logic and updates with 40–60-year lifetimes.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00550" y="3194447"/>
            <a:ext cx="3390900" cy="1407616"/>
          </a:xfrm>
          <a:prstGeom prst="roundRect">
            <a:avLst>
              <a:gd name="adj" fmla="val 6767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0100" y="3403997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and network layer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10100" y="3723977"/>
            <a:ext cx="306095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fibre taps, wireless links and unauthenticated protocols such as Modbus.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81950" y="3194447"/>
            <a:ext cx="3390900" cy="1407616"/>
          </a:xfrm>
          <a:prstGeom prst="roundRect">
            <a:avLst>
              <a:gd name="adj" fmla="val 6767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91500" y="3403997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insiders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91500" y="3723977"/>
            <a:ext cx="306095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Design, safeguards and physical-protection data; privileged staff and physical access.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What PQC and QKD can and cannot reach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91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PQC helps with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28700" y="2049661"/>
            <a:ext cx="3060954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mutual authentication (ML-DSA), signed firmware (SLH-DSA/LMS), key exchange (ML-KEM) that stays safe against quantum attack.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005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01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QKD helps with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0100" y="2049661"/>
            <a:ext cx="3060954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symmetric keys on fixed fibre links, and long-term confidentiality for selected flows. It still needs authentication.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819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915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solved by crypto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91500" y="2049661"/>
            <a:ext cx="3060954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Compromised endpoints, USB and insider misuse, process-logic attacks, firmware compromised before signing, and denial of service.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STRIDE analysis (1 of 2)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282"/>
          <a:ext cx="10553700" cy="4315718"/>
        </p:xfrm>
        <a:graphic>
          <a:graphicData uri="http://schemas.openxmlformats.org/drawingml/2006/table">
            <a:tbl>
              <a:tblPr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Nuclear ICS example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QKD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Still needed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1291927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Rogue device or vendor impersonation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ML-DSA mutual authentication, quantum-safe identity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direct help; needs authenticated channel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 allowlisting, MFA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91927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Tampering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Setpoint injection, replay, forged firmware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Signed firmware (SLH-DSA/LMS), authenticated encryption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Fresh keys for message authentication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diodes, process-level checks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816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Repudiation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commands or maintenance actions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ML-DSA signatures on commands and logs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None: symmetric keys cannot prove origin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logging, time sync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STRIDE analysis (2 of 2)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282"/>
          <a:ext cx="10553700" cy="4315718"/>
        </p:xfrm>
        <a:graphic>
          <a:graphicData uri="http://schemas.openxmlformats.org/drawingml/2006/table">
            <a:tbl>
              <a:tblPr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Nuclear ICS example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QKD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Still needed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1575693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Information disclosure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Eavesdropping; harvest-now-decrypt-later of design and safeguards data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ML-KEM key exchange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Seeds keys for long-confidentiality fixed links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classification, retention limits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816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Denial of service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Flooding; key-supply loss; fibre cut or alarm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Adds handshake load; larger packets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Alarm or fibre cut stops key supply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 fallback, redundancy, rate limits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816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Elevation of privilege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Rogue engineering workstation or stolen credentials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Role-bound certificates, signed commands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Least privilege, segmentation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Dominant threats and response by zone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480"/>
          <a:ext cx="10553700" cy="4057749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Dominant STRIDE threats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response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 Safety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Tampering, denial of service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remote keys; data diode; signed firmware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Z2 Control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Spoofing, tampering, DoS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MACsec at boundaries; PQC fallback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Z3 Supervisory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Spoofing, tampering, repudiation, elevation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ML-DSA authentication; signed commands and logs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Z4 DMZ / remote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Spoofing, disclosure, elevation, DoS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KEM; ML-DSA PKI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Z5 Enterprise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Disclosure, spoofing, repudiation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TLS; QKD-seeded links where fibre is fixed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One question, five setups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780"/>
            <a:ext cx="10883392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IEC 62443 zone, which profile meets the target security level within the control-loop delay margin, key-supply limits and regulatory constraints?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363291"/>
          <a:ext cx="10553700" cy="1162943"/>
        </p:xfrm>
        <a:graphic>
          <a:graphicData uri="http://schemas.openxmlformats.org/drawingml/2006/table">
            <a:tbl>
              <a:tblPr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Plaintext legacy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 ECDHE + AES-256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PQC-only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 + PQC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 + QKD-seeded keys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Key management by zone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480"/>
          <a:ext cx="10553700" cy="3488829"/>
        </p:xfrm>
        <a:graphic>
          <a:graphicData uri="http://schemas.openxmlformats.org/drawingml/2006/table">
            <a:tbl>
              <a:tblPr/>
              <a:tblGrid>
                <a:gridCol w="5276850"/>
                <a:gridCol w="5276850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profile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 Safety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One-way data diode, no remote keys, pre-shared AES-256, PQC-signed firmware. No QKD.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Z2 Control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MACsec AES-256 at boundaries, PLCs unmodified; QKD-seeded keys with PQC fallback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Z3 Supervisory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IKEv2 with ML-KEM plus QKD-seeded key; OPC UA via gateway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Z4 DMZ / remote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X25519 + ML-KEM-768, ML-DSA certificates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Z5 Enterprise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TLS 1.3; QKD only on fixed dark-fibre sites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Making QKD defensible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9150" y="1520130"/>
            <a:ext cx="249555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1729680"/>
            <a:ext cx="213874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28700" y="2049661"/>
            <a:ext cx="213874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Pre-shared Wegman–Carter key or ML-DSA, stated explicitly.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505200" y="1520130"/>
            <a:ext cx="249555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14750" y="1729680"/>
            <a:ext cx="213874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Finite-key bounds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714750" y="2049661"/>
            <a:ext cx="2138744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Composable bound with explicit secrecy and correctness errors; decoy states bound PNS.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1250" y="1520130"/>
            <a:ext cx="249555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729680"/>
            <a:ext cx="213874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safely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2049661"/>
            <a:ext cx="213874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KMAC256 with zone, conduit and transcript context.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77300" y="1520130"/>
            <a:ext cx="249555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86850" y="1729680"/>
            <a:ext cx="213874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gracefully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86850" y="2049661"/>
            <a:ext cx="213874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QKD outage switches to PQC-only keys; never fail closed.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How it will be evaluated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91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Emulated testbed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28700" y="2049661"/>
            <a:ext cx="306095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OpenPLC + Mininet + reactor model. Measure handshake and rekey delay and control-loop delay margin.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005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01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index (ZPI)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0100" y="2049661"/>
            <a:ext cx="3060954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Break-both rule for QKD + PQC; weakest-link-aware aggregation; AHP weights favouring availability and integrity.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81950" y="1520130"/>
            <a:ext cx="3390900" cy="1630462"/>
          </a:xfrm>
          <a:prstGeom prst="roundRect">
            <a:avLst>
              <a:gd name="adj" fmla="val 584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91500" y="1729680"/>
            <a:ext cx="306095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91500" y="2049661"/>
            <a:ext cx="3060954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sizes with CIs, Morris/Sobol sensitivity, Kendall rank correlation with security levels, expert review.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Outputs and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82396" y="1513780"/>
            <a:ext cx="10806176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4404" indent="-184404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Zone-wise recommendation: where PQC suffices, where QKD adds value</a:t>
            </a:r>
            <a:endParaRPr lang="en-US" sz="1700" dirty="0"/>
          </a:p>
          <a:p>
            <a:pPr algn="l" marL="184404" indent="-184404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PQC migration path: inventory, hybrid at boundaries, device roots of trust</a:t>
            </a:r>
            <a:endParaRPr lang="en-US" sz="1700" dirty="0"/>
          </a:p>
          <a:p>
            <a:pPr algn="l" marL="184404" indent="-184404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confirm co-supervisor, source the testbed topology, budget the hardware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one-Wise PQC and QKD for SMR Control Systems">
  <a:themeElements>
    <a:clrScheme name="Zone-Wise PQC and QKD for SMR Control Systems">
      <a:dk1>
        <a:srgbClr val="1E3A8A"/>
      </a:dk1>
      <a:lt1>
        <a:srgbClr val="FFFFFF"/>
      </a:lt1>
      <a:dk2>
        <a:srgbClr val="566BA7"/>
      </a:dk2>
      <a:lt2>
        <a:srgbClr val="E9EBF3"/>
      </a:lt2>
      <a:accent1>
        <a:srgbClr val="1D4ED8"/>
      </a:accent1>
      <a:accent2>
        <a:srgbClr val="1F2933"/>
      </a:accent2>
      <a:accent3>
        <a:srgbClr val="6B7280"/>
      </a:accent3>
      <a:accent4>
        <a:srgbClr val="9AA0A6"/>
      </a:accent4>
      <a:accent5>
        <a:srgbClr val="7889B9"/>
      </a:accent5>
      <a:accent6>
        <a:srgbClr val="9AA6CA"/>
      </a:accent6>
      <a:hlink>
        <a:srgbClr val="0563C1"/>
      </a:hlink>
      <a:folHlink>
        <a:srgbClr val="954F72"/>
      </a:folHlink>
    </a:clrScheme>
    <a:fontScheme name="Zone-Wise PQC and QKD for SMR Control System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Zone-Wise PQC and QKD for SMR Control Systems</dc:title>
  <dc:subject/>
  <dc:creator/>
  <cp:lastModifiedBy/>
  <cp:revision>1</cp:revision>
  <dcterms:created xsi:type="dcterms:W3CDTF">2026-10-12T05:11:43Z</dcterms:created>
  <dcterms:modified xsi:type="dcterms:W3CDTF">2026-10-12T05:11:43Z</dcterms:modified>
</cp:coreProperties>
</file>