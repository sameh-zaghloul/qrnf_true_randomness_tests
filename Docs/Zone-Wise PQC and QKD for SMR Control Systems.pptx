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 moved from "does hybrid help?" to a per-zone decision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problems found in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zones; QKD feeds only Zones 2, 3 and fixed-site 5; PQC covers all zones; Zone 1 has firmware signing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Zone model follows defence in depth with one-way flow out of the safety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Zone model: Z1 safety to Z5 enterprise.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Crypto protects channels and identities, not trusted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S, T, R. QKD gives no non-repudiation.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I, D, E. Crypto can create new availability risks.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Mapping drives the profile chosen for each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Classical+PQC shows whether QKD adds anything beyond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Safety zone follows independence and one-way flow principles.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Fixes to Eqs. 2 to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Anomaly detection is a separate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decisions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446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E3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564580"/>
            <a:ext cx="10566400" cy="4480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446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E3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564580"/>
            <a:ext cx="10566400" cy="4480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M.Sc. THESIS PROPOSAL · REVISED APPROACH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315641"/>
            <a:ext cx="10883392" cy="1310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60"/>
              </a:lnSpc>
              <a:buNone/>
            </a:pPr>
            <a:r>
              <a:rPr lang="en-US" sz="46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Zone-wise PQC and QKD for SMR control systems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12800" y="2854722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post-quantum cryptography suffice, and where does QKD add measurable value?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Why the approach changed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325" y="1523305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5050" y="1736030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threat model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35050" y="2056011"/>
            <a:ext cx="3047873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 I&amp;C ranks availability and integrity above confidentiality. The urgent quantum risk is firmware roots of trust and long-retention data.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03725" y="1523305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6450" y="1736030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Attacks crypto cannot stop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16450" y="2056011"/>
            <a:ext cx="3047873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Process-level attacks and Stuxnet-type malware bypass link encryption, so they cannot judge a cryptographic choice.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85125" y="1523305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97850" y="1736030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comparison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97850" y="2056011"/>
            <a:ext cx="3047873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RSA/AES baseline, QKD-only without authentication, and an index with arbitrary weights.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616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High-level architecture</a:t>
            </a:r>
            <a:endParaRPr lang="en-US" sz="3150" dirty="0"/>
          </a:p>
        </p:txBody>
      </p:sp>
      <p:pic>
        <p:nvPicPr>
          <p:cNvPr id="3" name="Image 0" descr="High-level architecture: five zones with QKD key supply on the left, PQC and classical subsystem on the right, and zone key management below">    </p:cNvPr>
          <p:cNvPicPr>
            <a:picLocks noChangeAspect="1"/>
          </p:cNvPicPr>
          <p:nvPr/>
        </p:nvPicPr>
        <p:blipFill>
          <a:blip r:embed="rId1"/>
          <a:srcRect l="-1250" r="-1250" t="0" b="0"/>
          <a:stretch/>
        </p:blipFill>
        <p:spPr>
          <a:xfrm>
            <a:off x="812800" y="1503065"/>
            <a:ext cx="10566400" cy="43389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five zones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26480"/>
          <a:ext cx="10553700" cy="3773289"/>
        </p:xfrm>
        <a:graphic>
          <a:graphicData uri="http://schemas.openxmlformats.org/drawingml/2006/table">
            <a:tbl>
              <a:tblPr/>
              <a:tblGrid>
                <a:gridCol w="2638425"/>
                <a:gridCol w="2638425"/>
                <a:gridCol w="2638425"/>
                <a:gridCol w="2638425"/>
              </a:tblGrid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Zone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assets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and data flow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Crypto role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Z1 Safety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Reactor protection, safety I&amp;C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 trusted; one-way outbound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Signed firmware; pre-shared keys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Z2 Control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DCS, PLCs, field switches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Controlled flow from Z1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MACsec at boundaries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Z3 Supervisory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SCADA, HMI, historian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Operators and engineers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key exchange; signed commands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Z4 DMZ / remote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Jump hosts, vendor access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Brokered, untrusted callers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KEM; ML-DSA PKI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Z5 Enterprise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IT, regulator links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Least trusted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TLS; optional QKD link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Threat surfaces of a nuclear ICS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325" y="1523305"/>
            <a:ext cx="3384550" cy="1413966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5050" y="1736030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access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35050" y="2056011"/>
            <a:ext cx="3047873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support, remote monitoring and operations links crossing the DMZ.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03725" y="1523305"/>
            <a:ext cx="3384550" cy="1413966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6450" y="1736030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IT/OT boundary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16450" y="2056011"/>
            <a:ext cx="3047873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Historians, enterprise networks and data gateways between zones.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85125" y="1523305"/>
            <a:ext cx="3384550" cy="1413966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97850" y="1736030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endpoints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97850" y="2056011"/>
            <a:ext cx="3047873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laptops, USB media and engineering workstations that reach controllers.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325" y="3210322"/>
            <a:ext cx="3384550" cy="1413966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5050" y="3423047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and firmware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35050" y="3743027"/>
            <a:ext cx="3047873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I&amp;C, FPGA logic and updates with 40–60-year lifetimes.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403725" y="3210322"/>
            <a:ext cx="3384550" cy="1413966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6450" y="3423047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and network layer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16450" y="3743027"/>
            <a:ext cx="3047873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Switches, fibre taps, wireless links and unauthenticated protocols such as Modbus.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985125" y="3210322"/>
            <a:ext cx="3384550" cy="1413966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97850" y="3423047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and insiders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97850" y="3743027"/>
            <a:ext cx="3047873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Design, safeguards and physical-protection data; privileged staff and physical access.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What PQC and QKD can and cannot reach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325" y="1523305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5050" y="1736030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PQC helps with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35050" y="2056011"/>
            <a:ext cx="3047873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mutual authentication (ML-DSA), signed firmware (SLH-DSA/LMS), key exchange (ML-KEM) that stays safe against quantum attack.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03725" y="1523305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6450" y="1736030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QKD helps with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16450" y="2056011"/>
            <a:ext cx="3047873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symmetric keys on fixed fibre links, and long-term confidentiality for selected flows. It still needs authentication.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85125" y="1523305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97850" y="1736030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solved by crypto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97850" y="2056011"/>
            <a:ext cx="3047873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Compromised endpoints, USB and insider misuse, process-logic attacks, firmware compromised before signing, and denial of service.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1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STRIDE analysis (1 of 2)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26282"/>
          <a:ext cx="10553700" cy="4315718"/>
        </p:xfrm>
        <a:graphic>
          <a:graphicData uri="http://schemas.openxmlformats.org/drawingml/2006/table">
            <a:tbl>
              <a:tblPr/>
              <a:tblGrid>
                <a:gridCol w="2110740"/>
                <a:gridCol w="2110740"/>
                <a:gridCol w="2110740"/>
                <a:gridCol w="2110740"/>
                <a:gridCol w="2110740"/>
              </a:tblGrid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Threat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Nuclear ICS example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PQC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QKD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Still needed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1291927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Spoofing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Rogue device or vendor impersonation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ML-DSA mutual authentication, quantum-safe identity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direct help; needs authenticated channel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 allowlisting, MFA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91927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Tampering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Setpoint injection, replay, forged firmware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Signed firmware (SLH-DSA/LMS), authenticated encryption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Fresh keys for message authentication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diodes, process-level checks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816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Repudiation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Disputed commands or maintenance actions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ML-DSA signatures on commands and logs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None: symmetric keys cannot prove origin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logging, time sync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1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STRIDE analysis (2 of 2)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26282"/>
          <a:ext cx="10553700" cy="4315718"/>
        </p:xfrm>
        <a:graphic>
          <a:graphicData uri="http://schemas.openxmlformats.org/drawingml/2006/table">
            <a:tbl>
              <a:tblPr/>
              <a:tblGrid>
                <a:gridCol w="2110740"/>
                <a:gridCol w="2110740"/>
                <a:gridCol w="2110740"/>
                <a:gridCol w="2110740"/>
                <a:gridCol w="2110740"/>
              </a:tblGrid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Threat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Nuclear ICS example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PQC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QKD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Still needed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1575693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Information disclosure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Eavesdropping; harvest-now-decrypt-later of design and safeguards data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ML-KEM key exchange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Seeds keys for long-confidentiality fixed links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classification, retention limits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816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Denial of service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Flooding; key-supply loss; fibre cut or alarm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Adds handshake load; larger packets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Alarm or fibre cut stops key supply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PQC fallback, redundancy, rate limits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816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Elevation of privilege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Rogue engineering workstation or stolen credentials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Role-bound certificates, signed commands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Least privilege, segmentation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Dominant threats and response by zone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26480"/>
          <a:ext cx="10553700" cy="4057749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Zone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Dominant STRIDE threats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Cryptographic response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Z1 Safety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Tampering, denial of service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remote keys; data diode; signed firmware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Z2 Control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Spoofing, tampering, DoS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MACsec at boundaries; PQC fallback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Z3 Supervisory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Spoofing, tampering, repudiation, elevation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ML-DSA authentication; signed commands and logs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Z4 DMZ / remote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Spoofing, disclosure, elevation, DoS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KEM; ML-DSA PKI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Z5 Enterprise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Disclosure, spoofing, repudiation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TLS; QKD-seeded links where fibre is fixed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One question, five setups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513780"/>
            <a:ext cx="10883392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IEC 62443 zone, which profile meets the target security level within the control-loop delay margin, key-supply limits and regulatory constraints?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363291"/>
          <a:ext cx="10553700" cy="1162943"/>
        </p:xfrm>
        <a:graphic>
          <a:graphicData uri="http://schemas.openxmlformats.org/drawingml/2006/table">
            <a:tbl>
              <a:tblPr/>
              <a:tblGrid>
                <a:gridCol w="2110740"/>
                <a:gridCol w="2110740"/>
                <a:gridCol w="2110740"/>
                <a:gridCol w="2110740"/>
                <a:gridCol w="2110740"/>
              </a:tblGrid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Plaintext legacy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 ECDHE + AES-256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PQC-only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 + PQC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PQC + QKD-seeded keys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Key management by zone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26480"/>
          <a:ext cx="10553700" cy="3488829"/>
        </p:xfrm>
        <a:graphic>
          <a:graphicData uri="http://schemas.openxmlformats.org/drawingml/2006/table">
            <a:tbl>
              <a:tblPr/>
              <a:tblGrid>
                <a:gridCol w="5276850"/>
                <a:gridCol w="5276850"/>
              </a:tblGrid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Zone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E3A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Cryptographic profile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Z1 Safety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One-way data diode, no remote keys, pre-shared AES-256, PQC-signed firmware. No QKD.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Z2 Control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MACsec AES-256 at boundaries, PLCs unmodified; QKD-seeded keys with PQC fallback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702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Z3 Supervisory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IKEv2 with ML-KEM plus QKD-seeded key; OPC UA via gateway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Z4 DMZ / remote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X25519 + ML-KEM-768, ML-DSA certificates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Z5 Enterprise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TLS 1.3; QKD only on fixed dark-fibre sites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Making QKD defensible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325" y="1523305"/>
            <a:ext cx="248920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5050" y="1736030"/>
            <a:ext cx="212566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 it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35050" y="2056011"/>
            <a:ext cx="2125663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Pre-shared Wegman–Carter key or ML-DSA, stated explicitly.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508375" y="1523305"/>
            <a:ext cx="248920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21100" y="1736030"/>
            <a:ext cx="212566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Finite-key bounds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721100" y="2056011"/>
            <a:ext cx="2125663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Composable bound with explicit secrecy and correctness errors; decoy states bound PNS.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94425" y="1523305"/>
            <a:ext cx="248920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7150" y="1736030"/>
            <a:ext cx="212566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safely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7150" y="2056011"/>
            <a:ext cx="2125663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KMAC256 with zone, conduit and transcript context.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80475" y="1523305"/>
            <a:ext cx="248920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93200" y="1736030"/>
            <a:ext cx="212566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gracefully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093200" y="2056011"/>
            <a:ext cx="2125663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QKD outage switches to PQC-only keys; never fail closed.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How it will be evaluated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325" y="1523305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5050" y="1736030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Emulated testbed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35050" y="2056011"/>
            <a:ext cx="3047873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OpenPLC + Mininet + reactor model. Measure handshake and rekey delay and control-loop delay margin.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03725" y="1523305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6450" y="1736030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index (ZPI)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16450" y="2056011"/>
            <a:ext cx="3047873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Break-both rule for QKD + PQC; weakest-link-aware aggregation; AHP weights favouring availability and integrity.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85125" y="1523305"/>
            <a:ext cx="3384550" cy="1636812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97850" y="1736030"/>
            <a:ext cx="30478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97850" y="2056011"/>
            <a:ext cx="3047873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sizes with CIs, Morris/Sobol sensitivity, Kendall rank correlation with security levels, expert review.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E3A8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Outputs and 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82396" y="1513780"/>
            <a:ext cx="10806176" cy="996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4404" indent="-184404">
              <a:lnSpc>
                <a:spcPts val="2550"/>
              </a:lnSpc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Zone-wise recommendation: where PQC suffices, where QKD adds value</a:t>
            </a:r>
            <a:endParaRPr lang="en-US" sz="1700" dirty="0"/>
          </a:p>
          <a:p>
            <a:pPr algn="l" marL="184404" indent="-184404">
              <a:lnSpc>
                <a:spcPts val="2550"/>
              </a:lnSpc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Phased PQC migration path: inventory, hybrid at boundaries, device roots of trust</a:t>
            </a:r>
            <a:endParaRPr lang="en-US" sz="1700" dirty="0"/>
          </a:p>
          <a:p>
            <a:pPr algn="l" marL="184404" indent="-184404">
              <a:lnSpc>
                <a:spcPts val="2550"/>
              </a:lnSpc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confirm co-supervisor, source the testbed topology, budget the hardware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one-Wise PQC and QKD for SMR Control Systems">
  <a:themeElements>
    <a:clrScheme name="Zone-Wise PQC and QKD for SMR Control Systems">
      <a:dk1>
        <a:srgbClr val="1E3A8A"/>
      </a:dk1>
      <a:lt1>
        <a:srgbClr val="FFFFFF"/>
      </a:lt1>
      <a:dk2>
        <a:srgbClr val="566BA7"/>
      </a:dk2>
      <a:lt2>
        <a:srgbClr val="E9EBF3"/>
      </a:lt2>
      <a:accent1>
        <a:srgbClr val="1D4ED8"/>
      </a:accent1>
      <a:accent2>
        <a:srgbClr val="9AA0A6"/>
      </a:accent2>
      <a:accent3>
        <a:srgbClr val="7889B9"/>
      </a:accent3>
      <a:accent4>
        <a:srgbClr val="9AA6CA"/>
      </a:accent4>
      <a:accent5>
        <a:srgbClr val="BCC4DC"/>
      </a:accent5>
      <a:accent6>
        <a:srgbClr val="D2D8E8"/>
      </a:accent6>
      <a:hlink>
        <a:srgbClr val="0563C1"/>
      </a:hlink>
      <a:folHlink>
        <a:srgbClr val="954F72"/>
      </a:folHlink>
    </a:clrScheme>
    <a:fontScheme name="Zone-Wise PQC and QKD for SMR Control System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Zone-Wise PQC and QKD for SMR Control Systems</dc:title>
  <dc:subject/>
  <dc:creator/>
  <cp:lastModifiedBy/>
  <cp:revision>1</cp:revision>
  <dcterms:created xsi:type="dcterms:W3CDTF">2026-10-12T06:08:36Z</dcterms:created>
  <dcterms:modified xsi:type="dcterms:W3CDTF">2026-10-12T06:08:36Z</dcterms:modified>
</cp:coreProperties>
</file>