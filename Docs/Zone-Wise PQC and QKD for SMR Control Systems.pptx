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notesSlides/notesSlide7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371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60062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CEB7F7AB-1C30-B86B-344B-06A2F2C41E8D}" type="datetimeFigureOut">
              <a:rPr lang="en-US"/>
              <a:t/>
            </a:fld>
            <a:endParaRPr/>
          </a:p>
        </p:txBody>
      </p:sp>
      <p:sp>
        <p:nvSpPr>
          <p:cNvPr id="437453723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5886860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0D578003-4FDE-CD77-A38D-FC7C099E987B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8167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920923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8558010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6972163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5614593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60650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9347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014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8791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615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8110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2741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321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217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9706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449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8670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9887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988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3120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314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8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5120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458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577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4374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S, T, R. QKD gives no non-repudiation.</a:t>
            </a:r>
            <a:endParaRPr lang="en-US"/>
          </a:p>
        </p:txBody>
      </p:sp>
      <p:sp>
        <p:nvSpPr>
          <p:cNvPr id="214391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519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4341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I, D, E. Crypto can create new availability risks.</a:t>
            </a:r>
            <a:endParaRPr lang="en-US"/>
          </a:p>
        </p:txBody>
      </p:sp>
      <p:sp>
        <p:nvSpPr>
          <p:cNvPr id="1529312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141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4464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382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566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8154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0834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779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6084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0911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615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0398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260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483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0903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6641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554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4737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7774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body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676402" name="Title Placeholder 1"/>
          <p:cNvSpPr/>
          <p:nvPr>
            <p:ph type="title"/>
          </p:nvPr>
        </p:nvSpPr>
        <p:spPr bwMode="auto"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200">
                <a:solidFill>
                  <a:srgbClr val="1E3A8A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200"/>
          </a:p>
        </p:txBody>
      </p:sp>
      <p:sp>
        <p:nvSpPr>
          <p:cNvPr id="480343884" name="Text Placeholder 2"/>
          <p:cNvSpPr/>
          <p:nvPr>
            <p:ph type="body" idx="101"/>
          </p:nvPr>
        </p:nvSpPr>
        <p:spPr bwMode="auto"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1E3A8A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899555" name="Title Placeholder 1"/>
          <p:cNvSpPr/>
          <p:nvPr>
            <p:ph type="title"/>
          </p:nvPr>
        </p:nvSpPr>
        <p:spPr bwMode="auto"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200">
                <a:solidFill>
                  <a:srgbClr val="1E3A8A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200"/>
          </a:p>
        </p:txBody>
      </p:sp>
      <p:sp>
        <p:nvSpPr>
          <p:cNvPr id="1764909497" name="Text Placeholder 2"/>
          <p:cNvSpPr/>
          <p:nvPr>
            <p:ph type="body" idx="101"/>
          </p:nvPr>
        </p:nvSpPr>
        <p:spPr bwMode="auto"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1E3A8A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123973" name="Text 0"/>
          <p:cNvSpPr/>
          <p:nvPr/>
        </p:nvSpPr>
        <p:spPr bwMode="auto"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600" spc="100">
                <a:solidFill>
                  <a:srgbClr val="1D4ED8"/>
                </a:solidFill>
                <a:latin typeface="Arial"/>
                <a:ea typeface="Arial"/>
                <a:cs typeface="Arial"/>
              </a:rPr>
              <a:t>M.Sc. THESIS PROPOSAL · REVISED APPROACH</a:t>
            </a:r>
            <a:endParaRPr lang="en-US" sz="1600"/>
          </a:p>
        </p:txBody>
      </p:sp>
      <p:sp>
        <p:nvSpPr>
          <p:cNvPr id="189333904" name="Text 1"/>
          <p:cNvSpPr/>
          <p:nvPr>
            <p:ph type="title"/>
          </p:nvPr>
        </p:nvSpPr>
        <p:spPr bwMode="auto">
          <a:xfrm>
            <a:off x="812800" y="1315641"/>
            <a:ext cx="10883392" cy="1310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060"/>
              </a:lnSpc>
              <a:buNone/>
              <a:defRPr/>
            </a:pPr>
            <a:r>
              <a:rPr lang="en-US" sz="48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Zone-wise PQC and QKD </a:t>
            </a:r>
            <a:br>
              <a:rPr lang="en-US" sz="48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</a:br>
            <a:r>
              <a:rPr lang="en-US" sz="48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for SMR control systems</a:t>
            </a:r>
            <a:endParaRPr lang="en-US" sz="4800"/>
          </a:p>
        </p:txBody>
      </p:sp>
      <p:sp>
        <p:nvSpPr>
          <p:cNvPr id="1922379374" name="Text 2"/>
          <p:cNvSpPr/>
          <p:nvPr/>
        </p:nvSpPr>
        <p:spPr bwMode="auto">
          <a:xfrm>
            <a:off x="812799" y="3337872"/>
            <a:ext cx="10883392" cy="32762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ctr">
              <a:lnSpc>
                <a:spcPts val="2380"/>
              </a:lnSpc>
              <a:buNone/>
              <a:defRPr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Where does post-quantum cryptography suffice, and where does QKD add measurable value?</a:t>
            </a:r>
            <a:endParaRPr sz="2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300087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4800" b="0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Why the approach changed</a:t>
            </a:r>
            <a:endParaRPr lang="en-US" sz="4800"/>
          </a:p>
        </p:txBody>
      </p:sp>
      <p:sp>
        <p:nvSpPr>
          <p:cNvPr id="1284849458" name="Shape 1"/>
          <p:cNvSpPr/>
          <p:nvPr/>
        </p:nvSpPr>
        <p:spPr bwMode="auto">
          <a:xfrm flipH="0" flipV="0">
            <a:off x="822323" y="2006456"/>
            <a:ext cx="3384549" cy="2466151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4800"/>
          </a:p>
        </p:txBody>
      </p:sp>
      <p:sp>
        <p:nvSpPr>
          <p:cNvPr id="1231298895" name="Text 2"/>
          <p:cNvSpPr/>
          <p:nvPr/>
        </p:nvSpPr>
        <p:spPr bwMode="auto">
          <a:xfrm>
            <a:off x="1035049" y="2219181"/>
            <a:ext cx="304787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70000" lnSpcReduction="6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36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Wrong threat model</a:t>
            </a:r>
            <a:endParaRPr lang="en-US" sz="3600"/>
          </a:p>
        </p:txBody>
      </p:sp>
      <p:sp>
        <p:nvSpPr>
          <p:cNvPr id="1866338083" name="Text 3"/>
          <p:cNvSpPr/>
          <p:nvPr/>
        </p:nvSpPr>
        <p:spPr bwMode="auto">
          <a:xfrm flipH="0" flipV="0">
            <a:off x="1035048" y="2539162"/>
            <a:ext cx="3047872" cy="1836815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endParaRPr lang="en-US" sz="2600"/>
          </a:p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Nuclear I&amp;C ranks availability and integrity above confidentiality. The urgent quantum risk is firmware roots of trust and long-retention data.</a:t>
            </a:r>
            <a:endParaRPr lang="en-US" sz="180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8880431" name="Shape 4"/>
          <p:cNvSpPr/>
          <p:nvPr/>
        </p:nvSpPr>
        <p:spPr bwMode="auto">
          <a:xfrm flipH="0" flipV="0">
            <a:off x="4403723" y="2006456"/>
            <a:ext cx="3384549" cy="2466151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4800"/>
          </a:p>
        </p:txBody>
      </p:sp>
      <p:sp>
        <p:nvSpPr>
          <p:cNvPr id="1221573309" name="Text 5"/>
          <p:cNvSpPr/>
          <p:nvPr/>
        </p:nvSpPr>
        <p:spPr bwMode="auto">
          <a:xfrm>
            <a:off x="4616449" y="2219181"/>
            <a:ext cx="304787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2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Attacks crypto cannot stop</a:t>
            </a:r>
            <a:endParaRPr lang="en-US" sz="3600"/>
          </a:p>
        </p:txBody>
      </p:sp>
      <p:sp>
        <p:nvSpPr>
          <p:cNvPr id="2051299125" name="Text 6"/>
          <p:cNvSpPr/>
          <p:nvPr/>
        </p:nvSpPr>
        <p:spPr bwMode="auto">
          <a:xfrm flipH="0" flipV="0">
            <a:off x="4616448" y="2539162"/>
            <a:ext cx="3047872" cy="175398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endParaRPr sz="1800"/>
          </a:p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Process-level attacks and Stuxnet-type malware bypass link encryption, so they cannot judge a cryptographic choice.</a:t>
            </a:r>
            <a:endParaRPr lang="en-US" sz="180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5130029" name="Shape 7"/>
          <p:cNvSpPr/>
          <p:nvPr/>
        </p:nvSpPr>
        <p:spPr bwMode="auto">
          <a:xfrm flipH="0" flipV="0">
            <a:off x="7985123" y="2006456"/>
            <a:ext cx="3384549" cy="2466151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4800"/>
          </a:p>
        </p:txBody>
      </p:sp>
      <p:sp>
        <p:nvSpPr>
          <p:cNvPr id="1231877919" name="Text 8"/>
          <p:cNvSpPr/>
          <p:nvPr/>
        </p:nvSpPr>
        <p:spPr bwMode="auto">
          <a:xfrm>
            <a:off x="8197849" y="2219181"/>
            <a:ext cx="304787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75000" lnSpcReduction="5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36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Weak comparison</a:t>
            </a:r>
            <a:endParaRPr lang="en-US" sz="3600"/>
          </a:p>
        </p:txBody>
      </p:sp>
      <p:sp>
        <p:nvSpPr>
          <p:cNvPr id="439453267" name="Text 9"/>
          <p:cNvSpPr/>
          <p:nvPr/>
        </p:nvSpPr>
        <p:spPr bwMode="auto">
          <a:xfrm flipH="0" flipV="0">
            <a:off x="8197848" y="2539162"/>
            <a:ext cx="3047872" cy="175398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endParaRPr lang="en-US" sz="2000"/>
          </a:p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RSA/AES baseline, QKD-only without authentication, and an index with arbitrary weights.</a:t>
            </a:r>
            <a:endParaRPr lang="en-US" sz="180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882829" name="Text 0"/>
          <p:cNvSpPr/>
          <p:nvPr>
            <p:ph type="title"/>
          </p:nvPr>
        </p:nvSpPr>
        <p:spPr bwMode="auto">
          <a:xfrm>
            <a:off x="743778" y="495299"/>
            <a:ext cx="10883392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  <a:defRPr/>
            </a:pPr>
            <a:r>
              <a:rPr lang="en-US" sz="3150" b="0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High-level architecture</a:t>
            </a:r>
            <a:endParaRPr lang="en-US" sz="3150"/>
          </a:p>
        </p:txBody>
      </p:sp>
      <p:pic>
        <p:nvPicPr>
          <p:cNvPr id="1685827931" name="Image 0" descr="High-level architecture: five zones with QKD key supply on the left, PQC and classical subsystem on the right, and zone key management below"/>
          <p:cNvPicPr>
            <a:picLocks noChangeAspect="1"/>
          </p:cNvPicPr>
          <p:nvPr/>
        </p:nvPicPr>
        <p:blipFill rotWithShape="1">
          <a:blip r:embed="rId3"/>
          <a:srcRect l="-1250" t="0" r="-1250" b="0"/>
          <a:stretch/>
        </p:blipFill>
        <p:spPr bwMode="auto">
          <a:xfrm flipH="0" flipV="0">
            <a:off x="73224" y="1049130"/>
            <a:ext cx="12106061" cy="5425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91439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The five zones</a:t>
            </a:r>
            <a:endParaRPr sz="3200" b="1"/>
          </a:p>
        </p:txBody>
      </p:sp>
      <p:graphicFrame>
        <p:nvGraphicFramePr>
          <p:cNvPr id="1146598407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825500" y="1526480"/>
          <a:ext cx="10553700" cy="377328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638425"/>
                <a:gridCol w="2638425"/>
                <a:gridCol w="2638425"/>
                <a:gridCol w="2638425"/>
              </a:tblGrid>
              <a:tr h="439241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Zone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Typical assets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Trust and data flow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Crypto role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Z1 Safety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Reactor protection, safety I&amp;C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Most trusted; one-way outbound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Signed firmware; pre-shared keys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439241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Z2 Control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DCS, PLCs, field switches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Controlled flow from Z1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MACsec at boundaries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Z3 Supervisory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SCADA, HMI, historian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Operators and engineers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Hybrid key exchange; signed commands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Z4 DMZ / remote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Jump hosts, vendor access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Brokered, untrusted callers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Hybrid KEM; ML-DSA PKI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Z5 Enterprise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Business IT, regulator links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Least trusted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2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Hybrid TLS; optional QKD link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889520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Threat surfaces of a nuclear ICS</a:t>
            </a:r>
            <a:endParaRPr sz="3200" b="1"/>
          </a:p>
        </p:txBody>
      </p:sp>
      <p:sp>
        <p:nvSpPr>
          <p:cNvPr id="981852245" name="Shape 1"/>
          <p:cNvSpPr/>
          <p:nvPr/>
        </p:nvSpPr>
        <p:spPr bwMode="auto">
          <a:xfrm>
            <a:off x="822324" y="1937435"/>
            <a:ext cx="3384550" cy="1413966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778261431" name="Text 2"/>
          <p:cNvSpPr/>
          <p:nvPr/>
        </p:nvSpPr>
        <p:spPr bwMode="auto">
          <a:xfrm>
            <a:off x="1035049" y="2150160"/>
            <a:ext cx="30478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4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Remote access</a:t>
            </a:r>
            <a:endParaRPr lang="en-US" sz="2400"/>
          </a:p>
        </p:txBody>
      </p:sp>
      <p:sp>
        <p:nvSpPr>
          <p:cNvPr id="639306061" name="Text 3"/>
          <p:cNvSpPr/>
          <p:nvPr/>
        </p:nvSpPr>
        <p:spPr bwMode="auto">
          <a:xfrm>
            <a:off x="1035049" y="2470141"/>
            <a:ext cx="3047873" cy="471091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</a:rPr>
              <a:t>Vendor support, remote monitoring and operations links crossing the DMZ.</a:t>
            </a:r>
            <a:endParaRPr lang="en-US" sz="2000"/>
          </a:p>
        </p:txBody>
      </p:sp>
      <p:sp>
        <p:nvSpPr>
          <p:cNvPr id="442110544" name="Shape 4"/>
          <p:cNvSpPr/>
          <p:nvPr/>
        </p:nvSpPr>
        <p:spPr bwMode="auto">
          <a:xfrm>
            <a:off x="4403724" y="1937435"/>
            <a:ext cx="3384550" cy="1413966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289474446" name="Text 5"/>
          <p:cNvSpPr/>
          <p:nvPr/>
        </p:nvSpPr>
        <p:spPr bwMode="auto">
          <a:xfrm>
            <a:off x="4616449" y="2150160"/>
            <a:ext cx="30478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4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IT/OT boundary</a:t>
            </a:r>
            <a:endParaRPr lang="en-US" sz="2400"/>
          </a:p>
        </p:txBody>
      </p:sp>
      <p:sp>
        <p:nvSpPr>
          <p:cNvPr id="766823782" name="Text 6"/>
          <p:cNvSpPr/>
          <p:nvPr/>
        </p:nvSpPr>
        <p:spPr bwMode="auto">
          <a:xfrm>
            <a:off x="4616449" y="2470141"/>
            <a:ext cx="3047873" cy="471091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Historians, enterprise networks and data gateways between zones.</a:t>
            </a:r>
            <a:endParaRPr lang="en-US" sz="2000"/>
          </a:p>
        </p:txBody>
      </p:sp>
      <p:sp>
        <p:nvSpPr>
          <p:cNvPr id="228444312" name="Shape 7"/>
          <p:cNvSpPr/>
          <p:nvPr/>
        </p:nvSpPr>
        <p:spPr bwMode="auto">
          <a:xfrm>
            <a:off x="7985124" y="1937435"/>
            <a:ext cx="3384550" cy="1413966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852978936" name="Text 8"/>
          <p:cNvSpPr/>
          <p:nvPr/>
        </p:nvSpPr>
        <p:spPr bwMode="auto">
          <a:xfrm>
            <a:off x="8197849" y="2150160"/>
            <a:ext cx="304787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4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Engineering endpoints</a:t>
            </a:r>
            <a:endParaRPr lang="en-US" sz="2400"/>
          </a:p>
        </p:txBody>
      </p:sp>
      <p:sp>
        <p:nvSpPr>
          <p:cNvPr id="1267244954" name="Text 9"/>
          <p:cNvSpPr/>
          <p:nvPr/>
        </p:nvSpPr>
        <p:spPr bwMode="auto">
          <a:xfrm>
            <a:off x="8197849" y="2470141"/>
            <a:ext cx="3047873" cy="69393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Maintenance laptops, USB media and engineering workstations that reach controllers.</a:t>
            </a:r>
            <a:endParaRPr lang="en-US" sz="2000"/>
          </a:p>
        </p:txBody>
      </p:sp>
      <p:sp>
        <p:nvSpPr>
          <p:cNvPr id="1111917278" name="Shape 10"/>
          <p:cNvSpPr/>
          <p:nvPr/>
        </p:nvSpPr>
        <p:spPr bwMode="auto">
          <a:xfrm>
            <a:off x="822324" y="3624452"/>
            <a:ext cx="3384550" cy="1413966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799415334" name="Text 11"/>
          <p:cNvSpPr/>
          <p:nvPr/>
        </p:nvSpPr>
        <p:spPr bwMode="auto">
          <a:xfrm>
            <a:off x="1035049" y="3837177"/>
            <a:ext cx="304787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0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Supply chain and firmware</a:t>
            </a:r>
            <a:endParaRPr lang="en-US" sz="2400"/>
          </a:p>
        </p:txBody>
      </p:sp>
      <p:sp>
        <p:nvSpPr>
          <p:cNvPr id="485532558" name="Text 12"/>
          <p:cNvSpPr/>
          <p:nvPr/>
        </p:nvSpPr>
        <p:spPr bwMode="auto">
          <a:xfrm>
            <a:off x="1035049" y="4157157"/>
            <a:ext cx="3047873" cy="471091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Digital I&amp;C, FPGA logic and updates with 40–60-year lifetimes.</a:t>
            </a:r>
            <a:endParaRPr lang="en-US" sz="2000"/>
          </a:p>
        </p:txBody>
      </p:sp>
      <p:sp>
        <p:nvSpPr>
          <p:cNvPr id="1640356971" name="Shape 13"/>
          <p:cNvSpPr/>
          <p:nvPr/>
        </p:nvSpPr>
        <p:spPr bwMode="auto">
          <a:xfrm>
            <a:off x="4403724" y="3624452"/>
            <a:ext cx="3384550" cy="1413966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5592139" name="Text 14"/>
          <p:cNvSpPr/>
          <p:nvPr/>
        </p:nvSpPr>
        <p:spPr bwMode="auto">
          <a:xfrm>
            <a:off x="4616449" y="3837177"/>
            <a:ext cx="304787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4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Field and network layer</a:t>
            </a:r>
            <a:endParaRPr lang="en-US" sz="2400"/>
          </a:p>
        </p:txBody>
      </p:sp>
      <p:sp>
        <p:nvSpPr>
          <p:cNvPr id="1759768799" name="Text 15"/>
          <p:cNvSpPr/>
          <p:nvPr/>
        </p:nvSpPr>
        <p:spPr bwMode="auto">
          <a:xfrm>
            <a:off x="4616449" y="4157157"/>
            <a:ext cx="3047873" cy="69393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75000" lnSpcReduction="5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Switches, fibre taps, wireless links and unauthenticated protocols such as Modbus.</a:t>
            </a:r>
            <a:endParaRPr lang="en-US" sz="2000"/>
          </a:p>
        </p:txBody>
      </p:sp>
      <p:sp>
        <p:nvSpPr>
          <p:cNvPr id="183317458" name="Shape 16"/>
          <p:cNvSpPr/>
          <p:nvPr/>
        </p:nvSpPr>
        <p:spPr bwMode="auto">
          <a:xfrm>
            <a:off x="7985124" y="3624452"/>
            <a:ext cx="3384550" cy="1413966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624286145" name="Text 17"/>
          <p:cNvSpPr/>
          <p:nvPr/>
        </p:nvSpPr>
        <p:spPr bwMode="auto">
          <a:xfrm>
            <a:off x="8197849" y="3837177"/>
            <a:ext cx="30478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4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Data and insiders</a:t>
            </a:r>
            <a:endParaRPr lang="en-US" sz="2400"/>
          </a:p>
        </p:txBody>
      </p:sp>
      <p:sp>
        <p:nvSpPr>
          <p:cNvPr id="706018733" name="Text 18"/>
          <p:cNvSpPr/>
          <p:nvPr/>
        </p:nvSpPr>
        <p:spPr bwMode="auto">
          <a:xfrm>
            <a:off x="8197849" y="4157157"/>
            <a:ext cx="3047873" cy="69393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Design, safeguards and physical-protection data; privileged staff and physical access.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351384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What PQC and QKD can and cannot reach</a:t>
            </a:r>
            <a:endParaRPr sz="3200" b="1"/>
          </a:p>
        </p:txBody>
      </p:sp>
      <p:sp>
        <p:nvSpPr>
          <p:cNvPr id="1400384823" name="Shape 1"/>
          <p:cNvSpPr/>
          <p:nvPr/>
        </p:nvSpPr>
        <p:spPr bwMode="auto">
          <a:xfrm>
            <a:off x="822324" y="2144500"/>
            <a:ext cx="338455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2141786713" name="Text 2"/>
          <p:cNvSpPr/>
          <p:nvPr/>
        </p:nvSpPr>
        <p:spPr bwMode="auto">
          <a:xfrm>
            <a:off x="1035049" y="2357225"/>
            <a:ext cx="30478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8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PQC helps with</a:t>
            </a:r>
            <a:endParaRPr lang="en-US" sz="2400"/>
          </a:p>
        </p:txBody>
      </p:sp>
      <p:sp>
        <p:nvSpPr>
          <p:cNvPr id="2071398076" name="Text 3"/>
          <p:cNvSpPr/>
          <p:nvPr/>
        </p:nvSpPr>
        <p:spPr bwMode="auto">
          <a:xfrm>
            <a:off x="1035049" y="2677206"/>
            <a:ext cx="3047873" cy="916781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Identity and mutual authentication (ML-DSA), signed firmware (SLH-DSA/LMS), key exchange (ML-KEM) that stays safe against quantum attack.</a:t>
            </a:r>
            <a:endParaRPr lang="en-US" sz="2000"/>
          </a:p>
        </p:txBody>
      </p:sp>
      <p:sp>
        <p:nvSpPr>
          <p:cNvPr id="1432156786" name="Shape 4"/>
          <p:cNvSpPr/>
          <p:nvPr/>
        </p:nvSpPr>
        <p:spPr bwMode="auto">
          <a:xfrm>
            <a:off x="4403724" y="2144500"/>
            <a:ext cx="338455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64112013" name="Text 5"/>
          <p:cNvSpPr/>
          <p:nvPr/>
        </p:nvSpPr>
        <p:spPr bwMode="auto">
          <a:xfrm>
            <a:off x="4616449" y="2357225"/>
            <a:ext cx="30478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8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QKD helps with</a:t>
            </a:r>
            <a:endParaRPr lang="en-US" sz="2400"/>
          </a:p>
        </p:txBody>
      </p:sp>
      <p:sp>
        <p:nvSpPr>
          <p:cNvPr id="127823929" name="Text 6"/>
          <p:cNvSpPr/>
          <p:nvPr/>
        </p:nvSpPr>
        <p:spPr bwMode="auto">
          <a:xfrm>
            <a:off x="4616449" y="2677206"/>
            <a:ext cx="3047873" cy="916781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Fresh symmetric keys on fixed fibre links, and long-term confidentiality for selected flows. It still needs authentication.</a:t>
            </a:r>
            <a:endParaRPr lang="en-US" sz="2000"/>
          </a:p>
        </p:txBody>
      </p:sp>
      <p:sp>
        <p:nvSpPr>
          <p:cNvPr id="1842350994" name="Shape 7"/>
          <p:cNvSpPr/>
          <p:nvPr/>
        </p:nvSpPr>
        <p:spPr bwMode="auto">
          <a:xfrm>
            <a:off x="7985124" y="2144500"/>
            <a:ext cx="338455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225987916" name="Text 8"/>
          <p:cNvSpPr/>
          <p:nvPr/>
        </p:nvSpPr>
        <p:spPr bwMode="auto">
          <a:xfrm>
            <a:off x="8197849" y="2357225"/>
            <a:ext cx="304787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8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Not solved by crypto</a:t>
            </a:r>
            <a:endParaRPr lang="en-US" sz="2400"/>
          </a:p>
        </p:txBody>
      </p:sp>
      <p:sp>
        <p:nvSpPr>
          <p:cNvPr id="1215826259" name="Text 9"/>
          <p:cNvSpPr/>
          <p:nvPr/>
        </p:nvSpPr>
        <p:spPr bwMode="auto">
          <a:xfrm>
            <a:off x="8197849" y="2677206"/>
            <a:ext cx="3047873" cy="916781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Compromised endpoints, USB and insider misuse, process-logic attacks, firmware compromised before signing, and denial of service.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648851" name="Text 0"/>
          <p:cNvSpPr/>
          <p:nvPr>
            <p:ph type="title"/>
          </p:nvPr>
        </p:nvSpPr>
        <p:spPr bwMode="auto">
          <a:xfrm>
            <a:off x="812800" y="812800"/>
            <a:ext cx="10883392" cy="472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STRIDE analysis (1 of 2)</a:t>
            </a:r>
            <a:endParaRPr sz="3200" b="1"/>
          </a:p>
        </p:txBody>
      </p:sp>
      <p:graphicFrame>
        <p:nvGraphicFramePr>
          <p:cNvPr id="1197788466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825500" y="1526282"/>
          <a:ext cx="10553700" cy="431571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110740"/>
                <a:gridCol w="2110740"/>
                <a:gridCol w="2110740"/>
                <a:gridCol w="2110740"/>
                <a:gridCol w="2110740"/>
              </a:tblGrid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Threat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Nuclear ICS example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PQC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QKD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Still needed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1291927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poofing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Rogue device or vendor impersonation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ML-DSA mutual authentication, quantum-safe identity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direct help; needs authenticated channel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Device allowlisting, MFA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1291927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ampering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Setpoint injection, replay, forged firmware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Signed firmware (SLH-DSA/LMS), authenticated encryption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Fresh keys for message authentication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Data diodes, process-level checks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100816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epudiation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Disputed commands or maintenance actions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ML-DSA signatures on commands and logs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None: symmetric keys cannot prove origin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Audit logging, time sync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672054" name="Text 0"/>
          <p:cNvSpPr/>
          <p:nvPr>
            <p:ph type="title"/>
          </p:nvPr>
        </p:nvSpPr>
        <p:spPr bwMode="auto">
          <a:xfrm>
            <a:off x="812800" y="812800"/>
            <a:ext cx="10883392" cy="472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STRIDE analysis (2 of 2)</a:t>
            </a:r>
            <a:endParaRPr sz="3200" b="1"/>
          </a:p>
        </p:txBody>
      </p:sp>
      <p:graphicFrame>
        <p:nvGraphicFramePr>
          <p:cNvPr id="95378498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825500" y="1526282"/>
          <a:ext cx="10553700" cy="431571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110740"/>
                <a:gridCol w="2110740"/>
                <a:gridCol w="2110740"/>
                <a:gridCol w="2110740"/>
                <a:gridCol w="2110740"/>
              </a:tblGrid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Threat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Nuclear ICS example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PQC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QKD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Still needed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1575693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nformation disclosure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Eavesdropping; harvest-now-decrypt-later of design and safeguards data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Hybrid ML-KEM key exchange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Seeds keys for long-confidentiality fixed links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Data classification, retention limits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100816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enial of service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Flooding; key-supply loss; fibre cut or alarm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Adds handshake load; larger packets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Alarm or fibre cut stops key supply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PQC fallback, redundancy, rate limits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100816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levation of privilege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Rogue engineering workstation or stolen credentials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Role-bound certificates, signed commands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segmentation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057083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Dominant threats and response by zone</a:t>
            </a:r>
            <a:endParaRPr sz="3200" b="1"/>
          </a:p>
        </p:txBody>
      </p:sp>
      <p:graphicFrame>
        <p:nvGraphicFramePr>
          <p:cNvPr id="160401172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825500" y="1526480"/>
          <a:ext cx="10553700" cy="405774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517900"/>
                <a:gridCol w="3517900"/>
                <a:gridCol w="3517900"/>
              </a:tblGrid>
              <a:tr h="439241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Zone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Dominant STRIDE threats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Cryptographic response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Z1 Safety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Tampering, denial of service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remote keys; data diode; signed firmware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Z2 Control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Spoofing, tampering, DoS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MACsec at boundaries; PQC fallback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Z3 Supervisory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Spoofing, tampering, repudiation, elevation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ML-DSA authentication; signed commands and logs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Z4 DMZ / remote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Spoofing, disclosure, elevation, DoS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Hybrid KEM; ML-DSA PKI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Z5 Enterprise</a:t>
                      </a:r>
                      <a:endParaRPr sz="16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Disclosure, spoofing, repudiation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Hybrid TLS; QKD-seeded links where fibre is fixed</a:t>
                      </a:r>
                      <a:endParaRPr lang="en-US"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823212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One question, five setups</a:t>
            </a:r>
            <a:endParaRPr sz="3200" b="1"/>
          </a:p>
        </p:txBody>
      </p:sp>
      <p:sp>
        <p:nvSpPr>
          <p:cNvPr id="347261813" name="Text 1"/>
          <p:cNvSpPr/>
          <p:nvPr/>
        </p:nvSpPr>
        <p:spPr bwMode="auto">
          <a:xfrm>
            <a:off x="825498" y="1941714"/>
            <a:ext cx="10883392" cy="608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  <a:defRPr/>
            </a:pPr>
            <a:r>
              <a:rPr lang="en-US" sz="18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For each IEC 62443 zone, which profile meets the target security level within the control-loop delay margin, key-supply limits and regulatory constraints?</a:t>
            </a:r>
            <a:endParaRPr sz="1800" b="1"/>
          </a:p>
        </p:txBody>
      </p:sp>
      <p:graphicFrame>
        <p:nvGraphicFramePr>
          <p:cNvPr id="1817860226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825498" y="3191551"/>
          <a:ext cx="10553700" cy="1162943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110740"/>
                <a:gridCol w="2110740"/>
                <a:gridCol w="2110740"/>
                <a:gridCol w="2110740"/>
                <a:gridCol w="2110740"/>
              </a:tblGrid>
              <a:tr h="552716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1252906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Plaintext legacy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Classical ECDHE + AES-256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PQC-only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Classical + PQC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PQC + QKD-seeded keys</a:t>
                      </a:r>
                      <a:endParaRPr sz="20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376281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Key management by zone</a:t>
            </a:r>
            <a:endParaRPr sz="3200" b="1"/>
          </a:p>
        </p:txBody>
      </p:sp>
      <p:graphicFrame>
        <p:nvGraphicFramePr>
          <p:cNvPr id="47413306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825498" y="1940610"/>
          <a:ext cx="10553700" cy="348882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5276850"/>
                <a:gridCol w="5276850"/>
              </a:tblGrid>
              <a:tr h="439241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Zone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E3A8A"/>
                          </a:solidFill>
                          <a:latin typeface="Arial"/>
                          <a:ea typeface="Arial"/>
                          <a:cs typeface="Arial"/>
                        </a:rPr>
                        <a:t>Cryptographic profile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Z1 Safety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One-way data diode, no remote keys, pre-shared AES-256, PQC-signed firmware. No QKD.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Z2 Control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MACsec AES-256 at boundaries, PLCs unmodified; QKD-seeded keys with PQC fallback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723702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Z3 Supervisory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IKEv2 with ML-KEM plus QKD-seeded key; OPC UA via gateway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439241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Z4 DMZ / remote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Hybrid X25519 + ML-KEM-768, ML-DSA certificates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439241"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Z5 Enterprise</a:t>
                      </a:r>
                      <a:endParaRPr sz="1800" b="1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Hybrid TLS 1.3; QKD only on fixed dark-fibre sites</a:t>
                      </a:r>
                      <a:endParaRPr lang="en-US" sz="1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1120" marR="71120" marT="71120" marB="7112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725530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Making QKD defensible</a:t>
            </a:r>
            <a:endParaRPr lang="en-US" sz="3200"/>
          </a:p>
        </p:txBody>
      </p:sp>
      <p:sp>
        <p:nvSpPr>
          <p:cNvPr id="734298308" name="Shape 1"/>
          <p:cNvSpPr/>
          <p:nvPr/>
        </p:nvSpPr>
        <p:spPr bwMode="auto">
          <a:xfrm>
            <a:off x="822324" y="2351565"/>
            <a:ext cx="248920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519825868" name="Text 2"/>
          <p:cNvSpPr/>
          <p:nvPr/>
        </p:nvSpPr>
        <p:spPr bwMode="auto">
          <a:xfrm>
            <a:off x="1035049" y="2564290"/>
            <a:ext cx="212566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6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Authenticate it</a:t>
            </a:r>
            <a:endParaRPr lang="en-US" sz="2200"/>
          </a:p>
        </p:txBody>
      </p:sp>
      <p:sp>
        <p:nvSpPr>
          <p:cNvPr id="843234772" name="Text 3"/>
          <p:cNvSpPr/>
          <p:nvPr/>
        </p:nvSpPr>
        <p:spPr bwMode="auto">
          <a:xfrm>
            <a:off x="1035049" y="2884271"/>
            <a:ext cx="2125663" cy="69393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Pre-shared Wegman–Carter key or ML-DSA, stated explicitly.</a:t>
            </a:r>
            <a:endParaRPr lang="en-US" sz="1800"/>
          </a:p>
        </p:txBody>
      </p:sp>
      <p:sp>
        <p:nvSpPr>
          <p:cNvPr id="1290622082" name="Shape 4"/>
          <p:cNvSpPr/>
          <p:nvPr/>
        </p:nvSpPr>
        <p:spPr bwMode="auto">
          <a:xfrm>
            <a:off x="3508374" y="2351565"/>
            <a:ext cx="248920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029125386" name="Text 5"/>
          <p:cNvSpPr/>
          <p:nvPr/>
        </p:nvSpPr>
        <p:spPr bwMode="auto">
          <a:xfrm>
            <a:off x="3721099" y="2564290"/>
            <a:ext cx="212566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2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Finite-key bounds</a:t>
            </a:r>
            <a:endParaRPr lang="en-US" sz="2200"/>
          </a:p>
        </p:txBody>
      </p:sp>
      <p:sp>
        <p:nvSpPr>
          <p:cNvPr id="723575413" name="Text 6"/>
          <p:cNvSpPr/>
          <p:nvPr/>
        </p:nvSpPr>
        <p:spPr bwMode="auto">
          <a:xfrm>
            <a:off x="3721099" y="2884271"/>
            <a:ext cx="2125663" cy="916781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Composable bound with explicit secrecy and correctness errors; decoy states bound PNS.</a:t>
            </a:r>
            <a:endParaRPr lang="en-US" sz="1800"/>
          </a:p>
        </p:txBody>
      </p:sp>
      <p:sp>
        <p:nvSpPr>
          <p:cNvPr id="1360554485" name="Shape 7"/>
          <p:cNvSpPr/>
          <p:nvPr/>
        </p:nvSpPr>
        <p:spPr bwMode="auto">
          <a:xfrm>
            <a:off x="6194424" y="2351565"/>
            <a:ext cx="248920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845658589" name="Text 8"/>
          <p:cNvSpPr/>
          <p:nvPr/>
        </p:nvSpPr>
        <p:spPr bwMode="auto">
          <a:xfrm>
            <a:off x="6407149" y="2564290"/>
            <a:ext cx="212566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6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Combine safely</a:t>
            </a:r>
            <a:endParaRPr lang="en-US" sz="2200"/>
          </a:p>
        </p:txBody>
      </p:sp>
      <p:sp>
        <p:nvSpPr>
          <p:cNvPr id="434270698" name="Text 9"/>
          <p:cNvSpPr/>
          <p:nvPr/>
        </p:nvSpPr>
        <p:spPr bwMode="auto">
          <a:xfrm>
            <a:off x="6407149" y="2884271"/>
            <a:ext cx="2125663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KMAC256 with zone, conduit and transcript context.</a:t>
            </a:r>
            <a:endParaRPr lang="en-US" sz="1800"/>
          </a:p>
        </p:txBody>
      </p:sp>
      <p:sp>
        <p:nvSpPr>
          <p:cNvPr id="753760466" name="Shape 10"/>
          <p:cNvSpPr/>
          <p:nvPr/>
        </p:nvSpPr>
        <p:spPr bwMode="auto">
          <a:xfrm>
            <a:off x="8880474" y="2351565"/>
            <a:ext cx="248920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880003746" name="Text 11"/>
          <p:cNvSpPr/>
          <p:nvPr/>
        </p:nvSpPr>
        <p:spPr bwMode="auto">
          <a:xfrm>
            <a:off x="9093199" y="2564290"/>
            <a:ext cx="2125663" cy="2691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6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Fail gracefully</a:t>
            </a:r>
            <a:endParaRPr lang="en-US" sz="2200"/>
          </a:p>
        </p:txBody>
      </p:sp>
      <p:sp>
        <p:nvSpPr>
          <p:cNvPr id="701107410" name="Text 12"/>
          <p:cNvSpPr/>
          <p:nvPr/>
        </p:nvSpPr>
        <p:spPr bwMode="auto">
          <a:xfrm>
            <a:off x="9093199" y="2884271"/>
            <a:ext cx="2125663" cy="69393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QKD outage switches to PQC-only keys; never fail closed.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631644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How it will be evaluated</a:t>
            </a:r>
            <a:endParaRPr sz="3200" b="1"/>
          </a:p>
        </p:txBody>
      </p:sp>
      <p:sp>
        <p:nvSpPr>
          <p:cNvPr id="1344130322" name="Shape 1"/>
          <p:cNvSpPr/>
          <p:nvPr/>
        </p:nvSpPr>
        <p:spPr bwMode="auto">
          <a:xfrm>
            <a:off x="822324" y="2213522"/>
            <a:ext cx="338455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990170741" name="Text 2"/>
          <p:cNvSpPr/>
          <p:nvPr/>
        </p:nvSpPr>
        <p:spPr bwMode="auto">
          <a:xfrm>
            <a:off x="1035049" y="2426247"/>
            <a:ext cx="30478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6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Emulated testbed</a:t>
            </a:r>
            <a:endParaRPr lang="en-US" sz="2200"/>
          </a:p>
        </p:txBody>
      </p:sp>
      <p:sp>
        <p:nvSpPr>
          <p:cNvPr id="829663234" name="Text 3"/>
          <p:cNvSpPr/>
          <p:nvPr/>
        </p:nvSpPr>
        <p:spPr bwMode="auto">
          <a:xfrm>
            <a:off x="1035049" y="2746228"/>
            <a:ext cx="3047873" cy="69393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OpenPLC + Mininet + reactor model. Measure handshake and rekey delay and control-loop delay margin.</a:t>
            </a:r>
            <a:endParaRPr lang="en-US" sz="1800"/>
          </a:p>
        </p:txBody>
      </p:sp>
      <p:sp>
        <p:nvSpPr>
          <p:cNvPr id="488591855" name="Shape 4"/>
          <p:cNvSpPr/>
          <p:nvPr/>
        </p:nvSpPr>
        <p:spPr bwMode="auto">
          <a:xfrm>
            <a:off x="4403724" y="2213522"/>
            <a:ext cx="338455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196495098" name="Text 5"/>
          <p:cNvSpPr/>
          <p:nvPr/>
        </p:nvSpPr>
        <p:spPr bwMode="auto">
          <a:xfrm>
            <a:off x="4616449" y="2426247"/>
            <a:ext cx="30478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6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Zone index (ZPI)</a:t>
            </a:r>
            <a:endParaRPr lang="en-US" sz="2200"/>
          </a:p>
        </p:txBody>
      </p:sp>
      <p:sp>
        <p:nvSpPr>
          <p:cNvPr id="1697809708" name="Text 6"/>
          <p:cNvSpPr/>
          <p:nvPr/>
        </p:nvSpPr>
        <p:spPr bwMode="auto">
          <a:xfrm>
            <a:off x="4616449" y="2746228"/>
            <a:ext cx="3047873" cy="916781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Break-both rule for QKD + PQC; weakest-link-aware aggregation; AHP weights favouring availability and integrity.</a:t>
            </a:r>
            <a:endParaRPr lang="en-US" sz="1800"/>
          </a:p>
        </p:txBody>
      </p:sp>
      <p:sp>
        <p:nvSpPr>
          <p:cNvPr id="1443343016" name="Shape 7"/>
          <p:cNvSpPr/>
          <p:nvPr/>
        </p:nvSpPr>
        <p:spPr bwMode="auto">
          <a:xfrm>
            <a:off x="7985124" y="2213522"/>
            <a:ext cx="3384550" cy="163681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205436274" name="Text 8"/>
          <p:cNvSpPr/>
          <p:nvPr/>
        </p:nvSpPr>
        <p:spPr bwMode="auto">
          <a:xfrm>
            <a:off x="8197849" y="2426247"/>
            <a:ext cx="304787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26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Validation</a:t>
            </a:r>
            <a:endParaRPr lang="en-US" sz="2200"/>
          </a:p>
        </p:txBody>
      </p:sp>
      <p:sp>
        <p:nvSpPr>
          <p:cNvPr id="861273536" name="Text 9"/>
          <p:cNvSpPr/>
          <p:nvPr/>
        </p:nvSpPr>
        <p:spPr bwMode="auto">
          <a:xfrm>
            <a:off x="8197849" y="2746228"/>
            <a:ext cx="3047873" cy="69393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Effect sizes with CIs, Morris/Sobol sensitivity, Kendall rank correlation with security levels, expert review.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25051" name="Text 0"/>
          <p:cNvSpPr/>
          <p:nvPr>
            <p:ph type="title"/>
          </p:nvPr>
        </p:nvSpPr>
        <p:spPr bwMode="auto"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E3A8A"/>
                </a:solidFill>
                <a:latin typeface="Georgia"/>
                <a:ea typeface="Georgia"/>
                <a:cs typeface="Georgia"/>
              </a:rPr>
              <a:t>Outputs and next steps</a:t>
            </a:r>
            <a:endParaRPr sz="3200" b="1"/>
          </a:p>
        </p:txBody>
      </p:sp>
      <p:sp>
        <p:nvSpPr>
          <p:cNvPr id="1029128414" name="Text 1"/>
          <p:cNvSpPr/>
          <p:nvPr/>
        </p:nvSpPr>
        <p:spPr bwMode="auto">
          <a:xfrm flipH="0" flipV="0">
            <a:off x="890015" y="2259214"/>
            <a:ext cx="10806175" cy="3483392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349965" indent="-349965" algn="l">
              <a:lnSpc>
                <a:spcPts val="2550"/>
              </a:lnSpc>
              <a:buSzPct val="100000"/>
              <a:buAutoNum type="arabicPeriod"/>
              <a:defRPr/>
            </a:pPr>
            <a:r>
              <a:rPr lang="en-US"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Zone-wise recommendation: where PQC suffices, where QKD adds value</a:t>
            </a:r>
            <a:endParaRPr lang="en-US" sz="240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marL="349965" indent="-349965" algn="l">
              <a:lnSpc>
                <a:spcPts val="2549"/>
              </a:lnSpc>
              <a:buSzPct val="100000"/>
              <a:buAutoNum type="arabicPeriod"/>
              <a:defRPr/>
            </a:pPr>
            <a:endParaRPr lang="en-US" sz="2000"/>
          </a:p>
          <a:p>
            <a:pPr marL="349965" indent="-349965" algn="l">
              <a:lnSpc>
                <a:spcPts val="2550"/>
              </a:lnSpc>
              <a:buSzPct val="100000"/>
              <a:buAutoNum type="arabicPeriod"/>
              <a:defRPr/>
            </a:pPr>
            <a:r>
              <a:rPr lang="en-US"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Phased PQC migration path: inventory, hybrid at boundaries, device roots of trust</a:t>
            </a:r>
            <a:endParaRPr lang="en-US" sz="240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marL="349965" indent="-349965" algn="l">
              <a:lnSpc>
                <a:spcPts val="2549"/>
              </a:lnSpc>
              <a:buSzPct val="100000"/>
              <a:buAutoNum type="arabicPeriod"/>
              <a:defRPr/>
            </a:pPr>
            <a:endParaRPr lang="en-US" sz="2000"/>
          </a:p>
          <a:p>
            <a:pPr marL="349965" indent="-349965" algn="l">
              <a:lnSpc>
                <a:spcPts val="2550"/>
              </a:lnSpc>
              <a:buSzPct val="100000"/>
              <a:buAutoNum type="arabicPeriod"/>
              <a:defRPr/>
            </a:pPr>
            <a:r>
              <a:rPr lang="en-US"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Next: confirm co-supervisor, source the testbed topology, budget the hardware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Zone-Wise PQC and QKD for SMR Control Systems">
  <a:themeElements>
    <a:clrScheme name="Zone-Wise PQC and QKD for SMR Control Systems">
      <a:dk1>
        <a:srgbClr val="1E3A8A"/>
      </a:dk1>
      <a:lt1>
        <a:srgbClr val="FFFFFF"/>
      </a:lt1>
      <a:dk2>
        <a:srgbClr val="566BA7"/>
      </a:dk2>
      <a:lt2>
        <a:srgbClr val="E9EBF3"/>
      </a:lt2>
      <a:accent1>
        <a:srgbClr val="1D4ED8"/>
      </a:accent1>
      <a:accent2>
        <a:srgbClr val="9AA0A6"/>
      </a:accent2>
      <a:accent3>
        <a:srgbClr val="7889B9"/>
      </a:accent3>
      <a:accent4>
        <a:srgbClr val="9AA6CA"/>
      </a:accent4>
      <a:accent5>
        <a:srgbClr val="BCC4DC"/>
      </a:accent5>
      <a:accent6>
        <a:srgbClr val="D2D8E8"/>
      </a:accent6>
      <a:hlink>
        <a:srgbClr val="0563C1"/>
      </a:hlink>
      <a:folHlink>
        <a:srgbClr val="954F72"/>
      </a:folHlink>
    </a:clrScheme>
    <a:fontScheme name="Zone-Wise PQC and QKD for SMR Control Systems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Zone-Wise PQC and QKD for SMR Control Systems">
  <a:themeElements>
    <a:clrScheme name="Zone-Wise PQC and QKD for SMR Control Systems">
      <a:dk1>
        <a:srgbClr val="1E3A8A"/>
      </a:dk1>
      <a:lt1>
        <a:srgbClr val="FFFFFF"/>
      </a:lt1>
      <a:dk2>
        <a:srgbClr val="566BA7"/>
      </a:dk2>
      <a:lt2>
        <a:srgbClr val="E9EBF3"/>
      </a:lt2>
      <a:accent1>
        <a:srgbClr val="1D4ED8"/>
      </a:accent1>
      <a:accent2>
        <a:srgbClr val="9AA0A6"/>
      </a:accent2>
      <a:accent3>
        <a:srgbClr val="7889B9"/>
      </a:accent3>
      <a:accent4>
        <a:srgbClr val="9AA6CA"/>
      </a:accent4>
      <a:accent5>
        <a:srgbClr val="BCC4DC"/>
      </a:accent5>
      <a:accent6>
        <a:srgbClr val="D2D8E8"/>
      </a:accent6>
      <a:hlink>
        <a:srgbClr val="0563C1"/>
      </a:hlink>
      <a:folHlink>
        <a:srgbClr val="954F72"/>
      </a:folHlink>
    </a:clrScheme>
    <a:fontScheme name="Zone-Wise PQC and QKD for SMR Control Systems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Zone-Wise PQC and QKD for SMR Control Systems">
  <a:themeElements>
    <a:clrScheme name="Zone-Wise PQC and QKD for SMR Control Systems">
      <a:dk1>
        <a:srgbClr val="1E3A8A"/>
      </a:dk1>
      <a:lt1>
        <a:srgbClr val="FFFFFF"/>
      </a:lt1>
      <a:dk2>
        <a:srgbClr val="566BA7"/>
      </a:dk2>
      <a:lt2>
        <a:srgbClr val="E9EBF3"/>
      </a:lt2>
      <a:accent1>
        <a:srgbClr val="1D4ED8"/>
      </a:accent1>
      <a:accent2>
        <a:srgbClr val="9AA0A6"/>
      </a:accent2>
      <a:accent3>
        <a:srgbClr val="7889B9"/>
      </a:accent3>
      <a:accent4>
        <a:srgbClr val="9AA6CA"/>
      </a:accent4>
      <a:accent5>
        <a:srgbClr val="BCC4DC"/>
      </a:accent5>
      <a:accent6>
        <a:srgbClr val="D2D8E8"/>
      </a:accent6>
      <a:hlink>
        <a:srgbClr val="0563C1"/>
      </a:hlink>
      <a:folHlink>
        <a:srgbClr val="954F72"/>
      </a:folHlink>
    </a:clrScheme>
    <a:fontScheme name="Zone-Wise PQC and QKD for SMR Control Systems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Zone-Wise PQC and QKD for SMR Control Systems</dc:title>
  <dc:subject/>
  <dc:creator/>
  <cp:lastModifiedBy/>
  <cp:revision>3</cp:revision>
  <dcterms:created xsi:type="dcterms:W3CDTF">2026-10-12T06:08:36Z</dcterms:created>
  <dcterms:modified xsi:type="dcterms:W3CDTF">2026-10-13T19:47:50Z</dcterms:modified>
</cp:coreProperties>
</file>